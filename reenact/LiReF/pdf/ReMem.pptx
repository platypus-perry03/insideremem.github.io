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4"/>
  </p:sldMasterIdLst>
  <p:notesMasterIdLst>
    <p:notesMasterId r:id="rId13"/>
  </p:notesMasterIdLst>
  <p:handoutMasterIdLst>
    <p:handoutMasterId r:id="rId14"/>
  </p:handoutMasterIdLst>
  <p:sldIdLst>
    <p:sldId id="258" r:id="rId5"/>
    <p:sldId id="259" r:id="rId6"/>
    <p:sldId id="263" r:id="rId7"/>
    <p:sldId id="262" r:id="rId8"/>
    <p:sldId id="260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484C"/>
    <a:srgbClr val="FA8619"/>
    <a:srgbClr val="F5EFEB"/>
    <a:srgbClr val="2F4156"/>
    <a:srgbClr val="E8997A"/>
    <a:srgbClr val="FBF5DF"/>
    <a:srgbClr val="9C9172"/>
    <a:srgbClr val="668597"/>
    <a:srgbClr val="F3AF85"/>
    <a:srgbClr val="E7E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8B90BC-71AB-2692-BB48-6C73504FDF1A}" v="3" dt="2026-07-08T07:57:21.433"/>
    <p1510:client id="{AD416974-8589-ED64-6359-5A7188EED1A8}" v="10" dt="2026-07-06T11:26:49.799"/>
    <p1510:client id="{F562E661-61DB-B00E-6812-88CFAFFBB2FA}" v="1286" dt="2026-07-06T11:55:37.222"/>
    <p1510:client id="{F7F2E77E-7172-325F-F482-D77E43BDB5EC}" v="1042" dt="2026-07-08T07:50:35.9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4C1A8A3-306A-4EB7-A6B1-4F7E0EB9C5D6}" styleName="보통 스타일 3 - 강조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09" autoAdjust="0"/>
    <p:restoredTop sz="69140" autoAdjust="0"/>
  </p:normalViewPr>
  <p:slideViewPr>
    <p:cSldViewPr snapToGrid="0">
      <p:cViewPr varScale="1">
        <p:scale>
          <a:sx n="79" d="100"/>
          <a:sy n="79" d="100"/>
        </p:scale>
        <p:origin x="223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45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4BCA28E1-80F8-4477-AC7C-DD927D0F47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8C12EB8-A7DB-408E-9071-15B9F45281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6FDEF1-FF99-42E2-A990-6071E7AC423A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7A40EE2-A32C-48B8-A331-D9ED89CB232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7099909-51BE-43AA-8D18-6ED15E53813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F37227-9713-4AC5-9184-BD9616C0D9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46621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383368-396D-4908-B6F7-8DDFD4A4BFA8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solidFill>
            <a:schemeClr val="bg1"/>
          </a:solidFill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7E39CE-593D-4CE9-91A1-363977ECE6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043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먼저 </a:t>
            </a:r>
            <a:r>
              <a:rPr lang="en-US" altLang="ko-KR" dirty="0" err="1" smtClean="0"/>
              <a:t>LiReF</a:t>
            </a:r>
            <a:r>
              <a:rPr lang="ko-KR" altLang="en-US" dirty="0" smtClean="0"/>
              <a:t>에서는 </a:t>
            </a:r>
            <a:r>
              <a:rPr lang="en-US" altLang="ko-KR" dirty="0" smtClean="0"/>
              <a:t>Reasoning </a:t>
            </a:r>
            <a:r>
              <a:rPr lang="ko-KR" altLang="en-US" dirty="0" smtClean="0"/>
              <a:t>문제와 </a:t>
            </a:r>
            <a:r>
              <a:rPr lang="en-US" altLang="ko-KR" dirty="0" smtClean="0"/>
              <a:t>Memorization </a:t>
            </a:r>
            <a:r>
              <a:rPr lang="ko-KR" altLang="en-US" dirty="0" smtClean="0"/>
              <a:t>문제를 모델에 입력하고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</a:t>
            </a:r>
            <a:r>
              <a:rPr lang="en-US" altLang="ko-KR" dirty="0" smtClean="0"/>
              <a:t>Layer</a:t>
            </a:r>
            <a:r>
              <a:rPr lang="ko-KR" altLang="en-US" dirty="0" smtClean="0"/>
              <a:t>에서 마지막 </a:t>
            </a:r>
            <a:r>
              <a:rPr lang="en-US" altLang="ko-KR" dirty="0" smtClean="0"/>
              <a:t>Question Token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Hidden State</a:t>
            </a:r>
            <a:r>
              <a:rPr lang="ko-KR" altLang="en-US" dirty="0" smtClean="0"/>
              <a:t>를 추출합니다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이 </a:t>
            </a:r>
            <a:r>
              <a:rPr lang="en-US" altLang="ko-KR" dirty="0" smtClean="0"/>
              <a:t>Hidden State</a:t>
            </a:r>
            <a:r>
              <a:rPr lang="ko-KR" altLang="en-US" dirty="0" smtClean="0"/>
              <a:t>들을 비교했을 때 </a:t>
            </a:r>
            <a:r>
              <a:rPr lang="en-US" altLang="ko-KR" dirty="0" smtClean="0"/>
              <a:t>Layer</a:t>
            </a:r>
            <a:r>
              <a:rPr lang="ko-KR" altLang="en-US" dirty="0" smtClean="0"/>
              <a:t>에 따라 </a:t>
            </a:r>
            <a:r>
              <a:rPr lang="en-US" altLang="ko-KR" dirty="0" smtClean="0"/>
              <a:t>R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M</a:t>
            </a:r>
            <a:r>
              <a:rPr lang="ko-KR" altLang="en-US" dirty="0" smtClean="0"/>
              <a:t>의 내부 표현이 서로 분리되는 현상이 나타났고</a:t>
            </a:r>
            <a:r>
              <a:rPr lang="en-US" altLang="ko-KR" dirty="0" smtClean="0"/>
              <a:t>, </a:t>
            </a:r>
          </a:p>
          <a:p>
            <a:r>
              <a:rPr lang="ko-KR" altLang="en-US" dirty="0" smtClean="0"/>
              <a:t>논문에서는 그중 대표적인 결과를 </a:t>
            </a:r>
            <a:r>
              <a:rPr lang="en-US" altLang="ko-KR" dirty="0" smtClean="0"/>
              <a:t>PCA</a:t>
            </a:r>
            <a:r>
              <a:rPr lang="ko-KR" altLang="en-US" dirty="0" smtClean="0"/>
              <a:t>를 이용해 </a:t>
            </a:r>
            <a:r>
              <a:rPr lang="en-US" altLang="ko-KR" dirty="0" smtClean="0"/>
              <a:t>2</a:t>
            </a:r>
            <a:r>
              <a:rPr lang="ko-KR" altLang="en-US" dirty="0" smtClean="0"/>
              <a:t>차원으로 </a:t>
            </a:r>
            <a:r>
              <a:rPr lang="ko-KR" altLang="en-US" dirty="0" err="1" smtClean="0"/>
              <a:t>시각화했습니다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즉</a:t>
            </a:r>
            <a:r>
              <a:rPr lang="en-US" altLang="ko-KR" dirty="0" smtClean="0"/>
              <a:t>, R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M</a:t>
            </a:r>
            <a:r>
              <a:rPr lang="ko-KR" altLang="en-US" dirty="0" smtClean="0"/>
              <a:t>이 모델 내부에서 다르게 표현된다는 것은 확인할 수 있었지만</a:t>
            </a:r>
            <a:r>
              <a:rPr lang="en-US" altLang="ko-KR" dirty="0" smtClean="0"/>
              <a:t>, </a:t>
            </a:r>
          </a:p>
          <a:p>
            <a:r>
              <a:rPr lang="ko-KR" altLang="en-US" b="1" dirty="0" smtClean="0"/>
              <a:t>어떤 내부 요소가 실제로 이 차이를 만들어내는지는 알 수 없었습니다</a:t>
            </a:r>
            <a:r>
              <a:rPr lang="en-US" altLang="ko-KR" b="1" dirty="0" smtClean="0"/>
              <a:t>.</a:t>
            </a:r>
          </a:p>
          <a:p>
            <a:r>
              <a:rPr lang="ko-KR" altLang="en-US" dirty="0" smtClean="0"/>
              <a:t/>
            </a:r>
            <a:br>
              <a:rPr lang="ko-KR" altLang="en-US" dirty="0" smtClean="0"/>
            </a:br>
            <a:r>
              <a:rPr lang="ko-KR" altLang="en-US" dirty="0" smtClean="0"/>
              <a:t>그래서 이 부분을 의문점으로 두고</a:t>
            </a:r>
            <a:r>
              <a:rPr lang="en-US" altLang="ko-KR" dirty="0" smtClean="0"/>
              <a:t>, Layer</a:t>
            </a:r>
            <a:r>
              <a:rPr lang="ko-KR" altLang="en-US" dirty="0" smtClean="0"/>
              <a:t>부터 </a:t>
            </a:r>
            <a:r>
              <a:rPr lang="en-US" altLang="ko-KR" dirty="0" smtClean="0"/>
              <a:t>Head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Neuron </a:t>
            </a:r>
            <a:r>
              <a:rPr lang="ko-KR" altLang="en-US" dirty="0" smtClean="0"/>
              <a:t>수준까지 내부를 분석했습니다</a:t>
            </a:r>
            <a:r>
              <a:rPr lang="en-US" altLang="ko-KR" dirty="0" smtClean="0"/>
              <a:t>.</a:t>
            </a:r>
            <a:endParaRPr lang="en-US" altLang="ko-KR" b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E39CE-593D-4CE9-91A1-363977ECE60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6729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dirty="0" smtClean="0"/>
              <a:t>먼저 </a:t>
            </a:r>
            <a:r>
              <a:rPr lang="en-US" altLang="ko-KR" b="0" dirty="0" smtClean="0"/>
              <a:t>Meta-Llama</a:t>
            </a:r>
            <a:r>
              <a:rPr lang="ko-KR" altLang="en-US" b="0" dirty="0" smtClean="0"/>
              <a:t>에서 </a:t>
            </a:r>
            <a:r>
              <a:rPr lang="en-US" altLang="ko-KR" b="0" dirty="0" smtClean="0"/>
              <a:t>R/M </a:t>
            </a:r>
            <a:r>
              <a:rPr lang="ko-KR" altLang="en-US" b="0" dirty="0" smtClean="0"/>
              <a:t>표현 차이가 어디에서 나타나는지 확인하기 위해</a:t>
            </a:r>
            <a:r>
              <a:rPr lang="en-US" altLang="ko-KR" b="0" dirty="0" smtClean="0"/>
              <a:t>, </a:t>
            </a:r>
          </a:p>
          <a:p>
            <a:r>
              <a:rPr lang="en-US" altLang="ko-KR" b="0" dirty="0" smtClean="0"/>
              <a:t>Layer → Attention/FFN → Head/Neuron </a:t>
            </a:r>
            <a:r>
              <a:rPr lang="ko-KR" altLang="en-US" b="0" dirty="0" smtClean="0"/>
              <a:t>순서로 범위를 좁혀 분석했습니다</a:t>
            </a:r>
            <a:r>
              <a:rPr lang="en-US" altLang="ko-KR" b="0" dirty="0" smtClean="0"/>
              <a:t>.</a:t>
            </a:r>
          </a:p>
          <a:p>
            <a:endParaRPr lang="ko-KR" altLang="en-US" b="0" dirty="0" smtClean="0"/>
          </a:p>
          <a:p>
            <a:r>
              <a:rPr lang="ko-KR" altLang="en-US" b="0" dirty="0" smtClean="0"/>
              <a:t>이 과정에서 </a:t>
            </a:r>
            <a:r>
              <a:rPr lang="en-US" altLang="ko-KR" b="0" dirty="0" smtClean="0"/>
              <a:t>Head 10</a:t>
            </a:r>
            <a:r>
              <a:rPr lang="ko-KR" altLang="en-US" b="0" dirty="0" smtClean="0"/>
              <a:t>개와 </a:t>
            </a:r>
            <a:r>
              <a:rPr lang="en-US" altLang="ko-KR" b="0" dirty="0" smtClean="0"/>
              <a:t>Neuron 10</a:t>
            </a:r>
            <a:r>
              <a:rPr lang="ko-KR" altLang="en-US" b="0" dirty="0" smtClean="0"/>
              <a:t>개</a:t>
            </a:r>
            <a:r>
              <a:rPr lang="en-US" altLang="ko-KR" b="0" dirty="0" smtClean="0"/>
              <a:t>, </a:t>
            </a:r>
            <a:r>
              <a:rPr lang="ko-KR" altLang="en-US" b="0" dirty="0" smtClean="0"/>
              <a:t>총 </a:t>
            </a:r>
            <a:r>
              <a:rPr lang="en-US" altLang="ko-KR" b="0" dirty="0" smtClean="0"/>
              <a:t>20</a:t>
            </a:r>
            <a:r>
              <a:rPr lang="ko-KR" altLang="en-US" b="0" dirty="0" smtClean="0"/>
              <a:t>개 후보를 선정했고</a:t>
            </a:r>
            <a:r>
              <a:rPr lang="en-US" altLang="ko-KR" b="0" dirty="0" smtClean="0"/>
              <a:t>, </a:t>
            </a:r>
          </a:p>
          <a:p>
            <a:r>
              <a:rPr lang="ko-KR" altLang="en-US" b="0" dirty="0" smtClean="0"/>
              <a:t>후보의 특성을 확인한 뒤 직접 억제해서 </a:t>
            </a:r>
            <a:r>
              <a:rPr lang="en-US" altLang="ko-KR" b="0" dirty="0" smtClean="0"/>
              <a:t>R/M gap</a:t>
            </a:r>
            <a:r>
              <a:rPr lang="ko-KR" altLang="en-US" b="0" dirty="0" smtClean="0"/>
              <a:t>이 줄어드는지 검증했습니다</a:t>
            </a:r>
            <a:r>
              <a:rPr lang="en-US" altLang="ko-KR" b="0" dirty="0" smtClean="0"/>
              <a:t>.</a:t>
            </a:r>
          </a:p>
          <a:p>
            <a:endParaRPr lang="en-US" altLang="ko-KR" b="0" dirty="0" smtClean="0"/>
          </a:p>
          <a:p>
            <a:r>
              <a:rPr lang="ko-KR" altLang="en-US" b="0" dirty="0" smtClean="0"/>
              <a:t>또한 </a:t>
            </a:r>
            <a:r>
              <a:rPr lang="en-US" altLang="ko-KR" b="0" dirty="0" err="1" smtClean="0"/>
              <a:t>heldout</a:t>
            </a:r>
            <a:r>
              <a:rPr lang="en-US" altLang="ko-KR" b="0" dirty="0" smtClean="0"/>
              <a:t> </a:t>
            </a:r>
            <a:r>
              <a:rPr lang="ko-KR" altLang="en-US" b="0" dirty="0" smtClean="0"/>
              <a:t>데이터</a:t>
            </a:r>
            <a:r>
              <a:rPr lang="en-US" altLang="ko-KR" b="0" dirty="0" smtClean="0"/>
              <a:t>, </a:t>
            </a:r>
            <a:r>
              <a:rPr lang="ko-KR" altLang="en-US" b="0" dirty="0" smtClean="0"/>
              <a:t>억제 강도</a:t>
            </a:r>
            <a:r>
              <a:rPr lang="en-US" altLang="ko-KR" b="0" dirty="0" smtClean="0"/>
              <a:t>, control, </a:t>
            </a:r>
            <a:r>
              <a:rPr lang="ko-KR" altLang="en-US" b="0" dirty="0" smtClean="0"/>
              <a:t>통계 기준까지 모두 확인했습니다</a:t>
            </a:r>
            <a:r>
              <a:rPr lang="en-US" altLang="ko-KR" b="0" dirty="0" smtClean="0"/>
              <a:t>.</a:t>
            </a:r>
          </a:p>
          <a:p>
            <a:endParaRPr lang="en-US" altLang="ko-KR" b="0" dirty="0" smtClean="0"/>
          </a:p>
          <a:p>
            <a:r>
              <a:rPr lang="ko-KR" altLang="en-US" b="0" dirty="0" smtClean="0"/>
              <a:t>그 결과 </a:t>
            </a:r>
            <a:r>
              <a:rPr lang="en-US" altLang="ko-KR" b="0" dirty="0" smtClean="0"/>
              <a:t>20</a:t>
            </a:r>
            <a:r>
              <a:rPr lang="ko-KR" altLang="en-US" b="0" dirty="0" smtClean="0"/>
              <a:t>개 중 </a:t>
            </a:r>
            <a:r>
              <a:rPr lang="en-US" altLang="ko-KR" b="0" dirty="0" smtClean="0"/>
              <a:t>9</a:t>
            </a:r>
            <a:r>
              <a:rPr lang="ko-KR" altLang="en-US" b="0" dirty="0" smtClean="0"/>
              <a:t>개</a:t>
            </a:r>
            <a:r>
              <a:rPr lang="en-US" altLang="ko-KR" b="0" dirty="0" smtClean="0"/>
              <a:t>, Head 4</a:t>
            </a:r>
            <a:r>
              <a:rPr lang="ko-KR" altLang="en-US" b="0" dirty="0" smtClean="0"/>
              <a:t>개와 </a:t>
            </a:r>
            <a:r>
              <a:rPr lang="en-US" altLang="ko-KR" b="0" dirty="0" smtClean="0"/>
              <a:t>Neuron 5</a:t>
            </a:r>
            <a:r>
              <a:rPr lang="ko-KR" altLang="en-US" b="0" dirty="0" smtClean="0"/>
              <a:t>개가 </a:t>
            </a:r>
            <a:r>
              <a:rPr lang="en-US" altLang="ko-KR" b="0" dirty="0" smtClean="0"/>
              <a:t>Strict PASS</a:t>
            </a:r>
            <a:r>
              <a:rPr lang="ko-KR" altLang="en-US" b="0" dirty="0" smtClean="0"/>
              <a:t>했습니다</a:t>
            </a:r>
            <a:r>
              <a:rPr lang="en-US" altLang="ko-KR" b="0" dirty="0" smtClean="0"/>
              <a:t>.</a:t>
            </a:r>
          </a:p>
          <a:p>
            <a:endParaRPr lang="en-US" altLang="ko-KR" b="0" dirty="0" smtClean="0"/>
          </a:p>
          <a:p>
            <a:r>
              <a:rPr lang="ko-KR" altLang="en-US" b="0" dirty="0" smtClean="0"/>
              <a:t>오른쪽 표는 이 </a:t>
            </a:r>
            <a:r>
              <a:rPr lang="en-US" altLang="ko-KR" b="0" dirty="0" smtClean="0"/>
              <a:t>9</a:t>
            </a:r>
            <a:r>
              <a:rPr lang="ko-KR" altLang="en-US" b="0" dirty="0" smtClean="0"/>
              <a:t>개 결과이며</a:t>
            </a:r>
            <a:r>
              <a:rPr lang="en-US" altLang="ko-KR" b="0" dirty="0" smtClean="0"/>
              <a:t>, </a:t>
            </a:r>
            <a:r>
              <a:rPr lang="ko-KR" altLang="en-US" b="0" dirty="0" smtClean="0"/>
              <a:t>실제로 억제했을 때 </a:t>
            </a:r>
            <a:endParaRPr lang="en-US" altLang="ko-KR" b="0" dirty="0" smtClean="0"/>
          </a:p>
          <a:p>
            <a:r>
              <a:rPr lang="en-US" altLang="ko-KR" b="0" dirty="0" err="1" smtClean="0"/>
              <a:t>LiReF</a:t>
            </a:r>
            <a:r>
              <a:rPr lang="ko-KR" altLang="en-US" b="0" dirty="0" smtClean="0"/>
              <a:t>에서 구분되는 </a:t>
            </a:r>
            <a:r>
              <a:rPr lang="en-US" altLang="ko-KR" b="0" dirty="0" smtClean="0"/>
              <a:t>R/M </a:t>
            </a:r>
            <a:r>
              <a:rPr lang="ko-KR" altLang="en-US" b="0" dirty="0" smtClean="0"/>
              <a:t>표현 차이가 감소한 </a:t>
            </a:r>
            <a:r>
              <a:rPr lang="en-US" altLang="ko-KR" b="0" dirty="0" smtClean="0"/>
              <a:t>Head</a:t>
            </a:r>
            <a:r>
              <a:rPr lang="ko-KR" altLang="en-US" b="0" dirty="0" smtClean="0"/>
              <a:t>와 </a:t>
            </a:r>
            <a:r>
              <a:rPr lang="en-US" altLang="ko-KR" b="0" dirty="0" smtClean="0"/>
              <a:t>Neuron</a:t>
            </a:r>
            <a:r>
              <a:rPr lang="ko-KR" altLang="en-US" b="0" dirty="0" smtClean="0"/>
              <a:t>들입니다</a:t>
            </a:r>
            <a:r>
              <a:rPr lang="en-US" altLang="ko-KR" b="0" dirty="0" smtClean="0"/>
              <a:t>.</a:t>
            </a:r>
            <a:endParaRPr lang="ko-KR" altLang="en-US" b="0" dirty="0" smtClean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0" dirty="0" smtClean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0" dirty="0" smtClean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0" dirty="0" smtClean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0" dirty="0" smtClean="0"/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ko-KR" b="1" dirty="0" smtClean="0"/>
              <a:t>Relation</a:t>
            </a:r>
            <a:r>
              <a:rPr lang="en-US" altLang="ko-KR" b="1" baseline="0" dirty="0" smtClean="0"/>
              <a:t> </a:t>
            </a:r>
            <a:r>
              <a:rPr lang="en-US" altLang="ko-KR" b="1" baseline="0" dirty="0" err="1" smtClean="0"/>
              <a:t>reponse</a:t>
            </a:r>
            <a:r>
              <a:rPr lang="en-US" altLang="ko-KR" b="1" baseline="0" dirty="0" smtClean="0"/>
              <a:t> : </a:t>
            </a:r>
            <a:r>
              <a:rPr lang="ko-KR" altLang="en-US" b="1" baseline="0" dirty="0" smtClean="0"/>
              <a:t>문제의 관계 정보가 바뀔 때 후보 반응도 바뀌는지 확인</a:t>
            </a:r>
            <a:endParaRPr lang="en-US" altLang="ko-KR" b="1" baseline="0" dirty="0" smtClean="0"/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ko-KR" b="1" baseline="0" dirty="0" smtClean="0"/>
              <a:t>Task relevance : </a:t>
            </a:r>
            <a:r>
              <a:rPr lang="ko-KR" altLang="en-US" b="1" baseline="0" dirty="0" smtClean="0"/>
              <a:t>그 정보가 실제 정답에 필요할 때 후보 반응이 달라지는지 확인</a:t>
            </a:r>
            <a:endParaRPr lang="en-US" altLang="ko-KR" b="1" baseline="0" dirty="0" smtClean="0"/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ko-KR" b="1" baseline="0" dirty="0" err="1" smtClean="0"/>
              <a:t>Heldout</a:t>
            </a:r>
            <a:r>
              <a:rPr lang="en-US" altLang="ko-KR" b="1" baseline="0" dirty="0" smtClean="0"/>
              <a:t> : </a:t>
            </a:r>
            <a:r>
              <a:rPr lang="ko-KR" altLang="en-US" b="1" dirty="0" smtClean="0"/>
              <a:t>후보 탐색에 사용하지 않고 따로 보관한 </a:t>
            </a:r>
            <a:r>
              <a:rPr lang="en-US" altLang="ko-KR" b="1" dirty="0" smtClean="0"/>
              <a:t>MMLU-Pro 600</a:t>
            </a:r>
            <a:r>
              <a:rPr lang="ko-KR" altLang="en-US" b="1" dirty="0" smtClean="0"/>
              <a:t>문항에서 결과가 반복되는지 확인</a:t>
            </a:r>
            <a:endParaRPr lang="en-US" altLang="ko-KR" b="1" dirty="0" smtClean="0"/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ko-KR" b="1" dirty="0" smtClean="0"/>
              <a:t>Suppression:</a:t>
            </a:r>
            <a:r>
              <a:rPr lang="ko-KR" altLang="en-US" b="1" dirty="0" smtClean="0"/>
              <a:t> 마지막 입력 토큰에서 </a:t>
            </a:r>
            <a:r>
              <a:rPr lang="en-US" altLang="ko-KR" b="1" dirty="0" smtClean="0"/>
              <a:t>Head </a:t>
            </a:r>
            <a:r>
              <a:rPr lang="ko-KR" altLang="en-US" b="1" dirty="0" smtClean="0"/>
              <a:t>출력은 </a:t>
            </a:r>
            <a:r>
              <a:rPr lang="en-US" altLang="ko-KR" b="1" dirty="0" smtClean="0"/>
              <a:t>50% </a:t>
            </a:r>
            <a:r>
              <a:rPr lang="ko-KR" altLang="en-US" b="1" dirty="0" smtClean="0"/>
              <a:t>또는 </a:t>
            </a:r>
            <a:r>
              <a:rPr lang="en-US" altLang="ko-KR" b="1" dirty="0" smtClean="0"/>
              <a:t>100% </a:t>
            </a:r>
            <a:r>
              <a:rPr lang="ko-KR" altLang="en-US" b="1" dirty="0" smtClean="0"/>
              <a:t>줄이고</a:t>
            </a:r>
            <a:r>
              <a:rPr lang="en-US" altLang="ko-KR" b="1" dirty="0" smtClean="0"/>
              <a:t>, Neuron</a:t>
            </a:r>
            <a:r>
              <a:rPr lang="ko-KR" altLang="en-US" b="1" dirty="0" smtClean="0"/>
              <a:t>은 평상시 평균값 쪽으로 </a:t>
            </a:r>
            <a:r>
              <a:rPr lang="en-US" altLang="ko-KR" b="1" dirty="0" smtClean="0"/>
              <a:t>50% </a:t>
            </a:r>
            <a:r>
              <a:rPr lang="ko-KR" altLang="en-US" b="1" dirty="0" smtClean="0"/>
              <a:t>또는 </a:t>
            </a:r>
            <a:r>
              <a:rPr lang="en-US" altLang="ko-KR" b="1" dirty="0" smtClean="0"/>
              <a:t>100% </a:t>
            </a:r>
            <a:r>
              <a:rPr lang="ko-KR" altLang="en-US" b="1" dirty="0" smtClean="0"/>
              <a:t>되돌려 영향력을 약화</a:t>
            </a:r>
            <a:endParaRPr lang="en-US" altLang="ko-KR" b="1" baseline="0" dirty="0" smtClean="0"/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ko-KR" b="1" baseline="0" dirty="0" smtClean="0"/>
              <a:t>Dose : 50%</a:t>
            </a:r>
            <a:r>
              <a:rPr lang="ko-KR" altLang="en-US" b="1" baseline="0" dirty="0" smtClean="0"/>
              <a:t>보다 </a:t>
            </a:r>
            <a:r>
              <a:rPr lang="en-US" altLang="ko-KR" b="1" baseline="0" dirty="0" smtClean="0"/>
              <a:t>100% </a:t>
            </a:r>
            <a:r>
              <a:rPr lang="ko-KR" altLang="en-US" b="1" baseline="0" dirty="0" smtClean="0"/>
              <a:t>억제에서 효과가 더 커지는지 확인</a:t>
            </a:r>
            <a:endParaRPr lang="en-US" altLang="ko-KR" b="1" baseline="0" dirty="0" smtClean="0"/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ko-KR" b="1" baseline="0" dirty="0" smtClean="0"/>
              <a:t>Control : </a:t>
            </a:r>
            <a:r>
              <a:rPr lang="ko-KR" altLang="en-US" b="1" dirty="0" smtClean="0"/>
              <a:t>같은 </a:t>
            </a:r>
            <a:r>
              <a:rPr lang="en-US" altLang="ko-KR" b="1" dirty="0" smtClean="0"/>
              <a:t>Layer·</a:t>
            </a:r>
            <a:r>
              <a:rPr lang="ko-KR" altLang="en-US" b="1" dirty="0" smtClean="0"/>
              <a:t>같은 종류에서 반응 규모가 비슷한 부품 </a:t>
            </a:r>
            <a:r>
              <a:rPr lang="en-US" altLang="ko-KR" b="1" dirty="0" smtClean="0"/>
              <a:t>1</a:t>
            </a:r>
            <a:r>
              <a:rPr lang="ko-KR" altLang="en-US" b="1" dirty="0" smtClean="0"/>
              <a:t>개와 무작위 부품 </a:t>
            </a:r>
            <a:r>
              <a:rPr lang="en-US" altLang="ko-KR" b="1" dirty="0" smtClean="0"/>
              <a:t>3</a:t>
            </a:r>
            <a:r>
              <a:rPr lang="ko-KR" altLang="en-US" b="1" dirty="0" smtClean="0"/>
              <a:t>개도 똑같이 억제해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후보의 효과가 특별히 큰지 비교</a:t>
            </a:r>
            <a:endParaRPr lang="en-US" altLang="ko-KR" b="1" dirty="0" smtClean="0"/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ko-KR" b="1" baseline="0" dirty="0" smtClean="0"/>
              <a:t>Statistics : </a:t>
            </a:r>
            <a:r>
              <a:rPr lang="ko-KR" altLang="en-US" b="1" baseline="0" dirty="0" smtClean="0"/>
              <a:t>결과가 우연이 아닌지 통계적으로 확인 </a:t>
            </a:r>
            <a:endParaRPr lang="en-US" altLang="ko-KR" b="1" baseline="0" dirty="0" smtClean="0"/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altLang="ko-KR" b="0" baseline="0" dirty="0" smtClean="0"/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altLang="ko-KR" b="0" dirty="0" smtClean="0"/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ko-KR" b="1" dirty="0" smtClean="0"/>
              <a:t>Attention : </a:t>
            </a:r>
            <a:r>
              <a:rPr lang="ko-KR" altLang="en-US" b="1" dirty="0" smtClean="0"/>
              <a:t>입력 문장 안에서 어떤 정보에 주목하고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어떤 정보를 가져올지 결정하는 쪽</a:t>
            </a:r>
            <a:endParaRPr lang="en-US" altLang="ko-KR" b="1" dirty="0" smtClean="0"/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ko-KR" b="1" dirty="0" smtClean="0"/>
              <a:t>FFN : Attention </a:t>
            </a:r>
            <a:r>
              <a:rPr lang="ko-KR" altLang="en-US" b="1" dirty="0" smtClean="0"/>
              <a:t>등을 통해 들어온 표현을 특징 단위로 변환하고 출력하는 쪽 </a:t>
            </a:r>
            <a:endParaRPr lang="en-US" altLang="ko-KR" b="1" dirty="0" smtClean="0"/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Þ"/>
              <a:tabLst/>
              <a:defRPr/>
            </a:pPr>
            <a:r>
              <a:rPr lang="ko-KR" altLang="en-US" b="0" dirty="0" smtClean="0"/>
              <a:t>분석 단위임</a:t>
            </a:r>
            <a:r>
              <a:rPr lang="en-US" altLang="ko-KR" b="0" dirty="0" smtClean="0"/>
              <a:t>. </a:t>
            </a: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ko-KR" b="1" dirty="0" smtClean="0"/>
              <a:t>Strict</a:t>
            </a:r>
            <a:r>
              <a:rPr lang="en-US" altLang="ko-KR" b="1" baseline="0" dirty="0" smtClean="0"/>
              <a:t> PASS : </a:t>
            </a:r>
            <a:r>
              <a:rPr lang="en-US" altLang="ko-KR" b="1" dirty="0" smtClean="0"/>
              <a:t>R </a:t>
            </a:r>
            <a:r>
              <a:rPr lang="ko-KR" altLang="en-US" b="1" dirty="0" smtClean="0"/>
              <a:t>방향으로 움직이는 것처럼 보이는 후보가 아니라</a:t>
            </a:r>
            <a:r>
              <a:rPr lang="en-US" altLang="ko-KR" b="1" dirty="0" smtClean="0"/>
              <a:t>, </a:t>
            </a:r>
            <a:br>
              <a:rPr lang="en-US" altLang="ko-KR" b="1" dirty="0" smtClean="0"/>
            </a:br>
            <a:r>
              <a:rPr lang="ko-KR" altLang="en-US" b="1" dirty="0" smtClean="0"/>
              <a:t>새로운 데이터에서도 반복되고 실제로 꺼봤을 때 </a:t>
            </a:r>
            <a:r>
              <a:rPr lang="en-US" altLang="ko-KR" b="1" dirty="0" smtClean="0"/>
              <a:t>R/M </a:t>
            </a:r>
            <a:r>
              <a:rPr lang="ko-KR" altLang="en-US" b="1" dirty="0" smtClean="0"/>
              <a:t>차이를 줄이는 후보만 최종적으로 남긴 것입니다</a:t>
            </a:r>
            <a:r>
              <a:rPr lang="en-US" altLang="ko-KR" b="1" dirty="0" smtClean="0"/>
              <a:t>.</a:t>
            </a: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altLang="ko-KR" b="0" dirty="0" smtClean="0"/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altLang="ko-KR" b="0" dirty="0" smtClean="0"/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altLang="ko-KR" b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E39CE-593D-4CE9-91A1-363977ECE60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9334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앞에서는 특정 </a:t>
            </a:r>
            <a:r>
              <a:rPr lang="en-US" altLang="ko-KR" dirty="0" smtClean="0"/>
              <a:t>Head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Neuron</a:t>
            </a:r>
            <a:r>
              <a:rPr lang="ko-KR" altLang="en-US" dirty="0" smtClean="0"/>
              <a:t>을 억제하면 </a:t>
            </a:r>
            <a:r>
              <a:rPr lang="en-US" altLang="ko-KR" dirty="0" smtClean="0"/>
              <a:t>R/M </a:t>
            </a:r>
            <a:r>
              <a:rPr lang="ko-KR" altLang="en-US" dirty="0" smtClean="0"/>
              <a:t>표현 차이가 줄어드는 것을 확인했습니다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이번에는 이 요소들이 </a:t>
            </a:r>
            <a:r>
              <a:rPr lang="en-US" altLang="ko-KR" b="1" dirty="0" smtClean="0"/>
              <a:t>R </a:t>
            </a:r>
            <a:r>
              <a:rPr lang="ko-KR" altLang="en-US" b="1" dirty="0" smtClean="0"/>
              <a:t>문항을 </a:t>
            </a:r>
            <a:r>
              <a:rPr lang="en-US" altLang="ko-KR" b="1" dirty="0" smtClean="0"/>
              <a:t>R </a:t>
            </a:r>
            <a:r>
              <a:rPr lang="ko-KR" altLang="en-US" b="1" dirty="0" smtClean="0"/>
              <a:t>방향으로</a:t>
            </a:r>
            <a:r>
              <a:rPr lang="en-US" altLang="ko-KR" b="1" dirty="0" smtClean="0"/>
              <a:t>, M </a:t>
            </a:r>
            <a:r>
              <a:rPr lang="ko-KR" altLang="en-US" b="1" dirty="0" smtClean="0"/>
              <a:t>문항을 </a:t>
            </a:r>
            <a:r>
              <a:rPr lang="en-US" altLang="ko-KR" b="1" dirty="0" smtClean="0"/>
              <a:t>M </a:t>
            </a:r>
            <a:r>
              <a:rPr lang="ko-KR" altLang="en-US" b="1" dirty="0" smtClean="0"/>
              <a:t>방향으로 보내는지</a:t>
            </a:r>
            <a:r>
              <a:rPr lang="ko-KR" altLang="en-US" dirty="0" smtClean="0"/>
              <a:t> 각각 분석했습니다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그 결과 </a:t>
            </a:r>
            <a:r>
              <a:rPr lang="en-US" altLang="ko-KR" b="1" dirty="0" smtClean="0"/>
              <a:t>R-direction</a:t>
            </a:r>
            <a:r>
              <a:rPr lang="ko-KR" altLang="en-US" b="1" dirty="0" smtClean="0"/>
              <a:t>은 </a:t>
            </a:r>
            <a:r>
              <a:rPr lang="en-US" altLang="ko-KR" b="1" dirty="0" smtClean="0"/>
              <a:t>Head 5</a:t>
            </a:r>
            <a:r>
              <a:rPr lang="ko-KR" altLang="en-US" b="1" dirty="0" smtClean="0"/>
              <a:t>개</a:t>
            </a:r>
            <a:r>
              <a:rPr lang="en-US" altLang="ko-KR" b="1" dirty="0" smtClean="0"/>
              <a:t>·Neuron 5</a:t>
            </a:r>
            <a:r>
              <a:rPr lang="ko-KR" altLang="en-US" b="1" dirty="0" smtClean="0"/>
              <a:t>개</a:t>
            </a:r>
            <a:r>
              <a:rPr lang="en-US" altLang="ko-KR" dirty="0" smtClean="0"/>
              <a:t>, </a:t>
            </a:r>
            <a:r>
              <a:rPr lang="en-US" altLang="ko-KR" b="1" dirty="0" smtClean="0"/>
              <a:t>M-direction</a:t>
            </a:r>
            <a:r>
              <a:rPr lang="ko-KR" altLang="en-US" b="1" dirty="0" smtClean="0"/>
              <a:t>은 </a:t>
            </a:r>
            <a:r>
              <a:rPr lang="en-US" altLang="ko-KR" b="1" dirty="0" smtClean="0"/>
              <a:t>Head 4</a:t>
            </a:r>
            <a:r>
              <a:rPr lang="ko-KR" altLang="en-US" b="1" dirty="0" smtClean="0"/>
              <a:t>개</a:t>
            </a:r>
            <a:r>
              <a:rPr lang="en-US" altLang="ko-KR" b="1" dirty="0" smtClean="0"/>
              <a:t>·Neuron 3</a:t>
            </a:r>
            <a:r>
              <a:rPr lang="ko-KR" altLang="en-US" b="1" dirty="0" smtClean="0"/>
              <a:t>개</a:t>
            </a:r>
            <a:r>
              <a:rPr lang="ko-KR" altLang="en-US" dirty="0" smtClean="0"/>
              <a:t>가 확인됐습니다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일부는 양쪽에 공통으로 나타나</a:t>
            </a:r>
            <a:r>
              <a:rPr lang="en-US" altLang="ko-KR" dirty="0" smtClean="0"/>
              <a:t>, </a:t>
            </a:r>
          </a:p>
          <a:p>
            <a:r>
              <a:rPr lang="ko-KR" altLang="en-US" b="1" dirty="0" smtClean="0"/>
              <a:t>하나의 요소가 문항에 따라 </a:t>
            </a:r>
            <a:r>
              <a:rPr lang="en-US" altLang="ko-KR" b="1" dirty="0" smtClean="0"/>
              <a:t>R</a:t>
            </a:r>
            <a:r>
              <a:rPr lang="ko-KR" altLang="en-US" b="1" dirty="0" smtClean="0"/>
              <a:t>과 </a:t>
            </a:r>
            <a:r>
              <a:rPr lang="en-US" altLang="ko-KR" b="1" dirty="0" smtClean="0"/>
              <a:t>M</a:t>
            </a:r>
            <a:r>
              <a:rPr lang="ko-KR" altLang="en-US" b="1" dirty="0" smtClean="0"/>
              <a:t>을 서로 다른 방향으로 벌리는 데 기여할 수 있음</a:t>
            </a:r>
            <a:r>
              <a:rPr lang="ko-KR" altLang="en-US" dirty="0" smtClean="0"/>
              <a:t>을 보여줬습니다</a:t>
            </a:r>
            <a:r>
              <a:rPr lang="en-US" altLang="ko-KR" dirty="0" smtClean="0"/>
              <a:t>.</a:t>
            </a:r>
            <a:endParaRPr lang="en-US" altLang="ko-KR" b="1" dirty="0" smtClean="0"/>
          </a:p>
          <a:p>
            <a:endParaRPr lang="en-US" altLang="ko-KR" b="1" dirty="0" smtClean="0"/>
          </a:p>
          <a:p>
            <a:endParaRPr lang="en-US" altLang="ko-KR" b="1" dirty="0" smtClean="0"/>
          </a:p>
          <a:p>
            <a:endParaRPr lang="en-US" altLang="ko-KR" b="1" dirty="0" smtClean="0"/>
          </a:p>
          <a:p>
            <a:r>
              <a:rPr lang="en-US" altLang="ko-KR" b="1" dirty="0" smtClean="0"/>
              <a:t>===========================================</a:t>
            </a:r>
          </a:p>
          <a:p>
            <a:pPr marL="171450" indent="-171450">
              <a:buFontTx/>
              <a:buChar char="-"/>
            </a:pPr>
            <a:r>
              <a:rPr lang="en-US" altLang="ko-KR" b="1" dirty="0" smtClean="0"/>
              <a:t>ID :</a:t>
            </a:r>
            <a:r>
              <a:rPr lang="ko-KR" altLang="en-US" dirty="0" smtClean="0"/>
              <a:t> </a:t>
            </a:r>
            <a:r>
              <a:rPr lang="en-US" altLang="ko-KR" dirty="0" smtClean="0"/>
              <a:t>Head </a:t>
            </a:r>
            <a:r>
              <a:rPr lang="ko-KR" altLang="en-US" dirty="0" smtClean="0"/>
              <a:t>또는 </a:t>
            </a:r>
            <a:r>
              <a:rPr lang="en-US" altLang="ko-KR" dirty="0" smtClean="0"/>
              <a:t>Neuron</a:t>
            </a:r>
            <a:r>
              <a:rPr lang="ko-KR" altLang="en-US" dirty="0" smtClean="0"/>
              <a:t>의 위치와 번호</a:t>
            </a:r>
            <a:endParaRPr lang="en-US" altLang="ko-KR" dirty="0" smtClean="0"/>
          </a:p>
          <a:p>
            <a:pPr marL="171450" indent="-171450">
              <a:buFontTx/>
              <a:buChar char="-"/>
            </a:pPr>
            <a:r>
              <a:rPr lang="en-US" altLang="ko-KR" b="1" dirty="0" smtClean="0"/>
              <a:t>M mean :</a:t>
            </a:r>
            <a:r>
              <a:rPr lang="ko-KR" altLang="en-US" dirty="0" smtClean="0"/>
              <a:t> </a:t>
            </a:r>
            <a:r>
              <a:rPr lang="en-US" altLang="ko-KR" dirty="0" smtClean="0"/>
              <a:t>M </a:t>
            </a:r>
            <a:r>
              <a:rPr lang="ko-KR" altLang="en-US" dirty="0" smtClean="0"/>
              <a:t>문항에서 해당 부품이 </a:t>
            </a:r>
            <a:r>
              <a:rPr lang="en-US" altLang="ko-KR" dirty="0" err="1" smtClean="0"/>
              <a:t>LiReF</a:t>
            </a:r>
            <a:r>
              <a:rPr lang="en-US" altLang="ko-KR" dirty="0" smtClean="0"/>
              <a:t> </a:t>
            </a:r>
            <a:r>
              <a:rPr lang="ko-KR" altLang="en-US" dirty="0" smtClean="0"/>
              <a:t>축에 기여한 평균값</a:t>
            </a:r>
            <a:endParaRPr lang="en-US" altLang="ko-KR" dirty="0" smtClean="0"/>
          </a:p>
          <a:p>
            <a:pPr marL="171450" indent="-171450">
              <a:buFontTx/>
              <a:buChar char="-"/>
            </a:pPr>
            <a:r>
              <a:rPr lang="en-US" altLang="ko-KR" b="1" dirty="0" smtClean="0"/>
              <a:t>R mean :</a:t>
            </a:r>
            <a:r>
              <a:rPr lang="ko-KR" altLang="en-US" dirty="0" smtClean="0"/>
              <a:t> </a:t>
            </a:r>
            <a:r>
              <a:rPr lang="en-US" altLang="ko-KR" dirty="0" smtClean="0"/>
              <a:t>R </a:t>
            </a:r>
            <a:r>
              <a:rPr lang="ko-KR" altLang="en-US" dirty="0" smtClean="0"/>
              <a:t>문항에서 해당 부품이 </a:t>
            </a:r>
            <a:r>
              <a:rPr lang="en-US" altLang="ko-KR" dirty="0" err="1" smtClean="0"/>
              <a:t>LiReF</a:t>
            </a:r>
            <a:r>
              <a:rPr lang="en-US" altLang="ko-KR" dirty="0" smtClean="0"/>
              <a:t> </a:t>
            </a:r>
            <a:r>
              <a:rPr lang="ko-KR" altLang="en-US" dirty="0" smtClean="0"/>
              <a:t>축에 기여한 평균값</a:t>
            </a:r>
            <a:endParaRPr lang="en-US" altLang="ko-KR" dirty="0" smtClean="0"/>
          </a:p>
          <a:p>
            <a:pPr marL="171450" indent="-171450">
              <a:buFontTx/>
              <a:buChar char="-"/>
            </a:pPr>
            <a:r>
              <a:rPr lang="en-US" altLang="ko-KR" b="1" dirty="0" smtClean="0"/>
              <a:t>Δ :</a:t>
            </a:r>
            <a:r>
              <a:rPr lang="ko-KR" altLang="en-US" dirty="0" smtClean="0"/>
              <a:t> </a:t>
            </a:r>
            <a:r>
              <a:rPr lang="en-US" altLang="ko-KR" dirty="0" smtClean="0"/>
              <a:t>R mean − M mean</a:t>
            </a:r>
          </a:p>
          <a:p>
            <a:pPr marL="171450" indent="-171450">
              <a:buFontTx/>
              <a:buChar char="-"/>
            </a:pPr>
            <a:r>
              <a:rPr lang="en-US" altLang="ko-KR" b="1" dirty="0" smtClean="0"/>
              <a:t>Gap </a:t>
            </a:r>
            <a:r>
              <a:rPr lang="ko-KR" altLang="en-US" b="1" dirty="0" smtClean="0"/>
              <a:t>감소 </a:t>
            </a:r>
            <a:r>
              <a:rPr lang="en-US" altLang="ko-KR" b="1" dirty="0" smtClean="0"/>
              <a:t>:</a:t>
            </a:r>
            <a:r>
              <a:rPr lang="ko-KR" altLang="en-US" dirty="0" smtClean="0"/>
              <a:t> 해당 부품을 억제했을 때 </a:t>
            </a:r>
            <a:r>
              <a:rPr lang="en-US" altLang="ko-KR" dirty="0" smtClean="0"/>
              <a:t>R/M </a:t>
            </a:r>
            <a:r>
              <a:rPr lang="ko-KR" altLang="en-US" dirty="0" smtClean="0"/>
              <a:t>표현 간격이 줄어든 정도</a:t>
            </a:r>
            <a:endParaRPr lang="en-US" altLang="ko-KR" dirty="0" smtClean="0"/>
          </a:p>
          <a:p>
            <a:pPr marL="171450" indent="-171450">
              <a:buFontTx/>
              <a:buChar char="-"/>
            </a:pPr>
            <a:r>
              <a:rPr lang="ko-KR" altLang="en-US" b="1" dirty="0" smtClean="0"/>
              <a:t>주황색 </a:t>
            </a:r>
            <a:r>
              <a:rPr lang="en-US" altLang="ko-KR" b="1" dirty="0" smtClean="0"/>
              <a:t>:</a:t>
            </a:r>
            <a:r>
              <a:rPr lang="ko-KR" altLang="en-US" dirty="0" smtClean="0"/>
              <a:t> </a:t>
            </a:r>
            <a:r>
              <a:rPr lang="en-US" altLang="ko-KR" dirty="0" smtClean="0"/>
              <a:t>Attention Head</a:t>
            </a:r>
          </a:p>
          <a:p>
            <a:pPr marL="171450" indent="-171450">
              <a:buFontTx/>
              <a:buChar char="-"/>
            </a:pPr>
            <a:r>
              <a:rPr lang="ko-KR" altLang="en-US" b="1" dirty="0" smtClean="0"/>
              <a:t>초록색 </a:t>
            </a:r>
            <a:r>
              <a:rPr lang="en-US" altLang="ko-KR" b="1" dirty="0" smtClean="0"/>
              <a:t>:</a:t>
            </a:r>
            <a:r>
              <a:rPr lang="ko-KR" altLang="en-US" dirty="0" smtClean="0"/>
              <a:t> </a:t>
            </a:r>
            <a:r>
              <a:rPr lang="en-US" altLang="ko-KR" dirty="0" smtClean="0"/>
              <a:t>FFN Neuron</a:t>
            </a:r>
            <a:endParaRPr lang="en-US" altLang="ko-KR" b="1" dirty="0" smtClean="0"/>
          </a:p>
          <a:p>
            <a:endParaRPr lang="en-US" altLang="ko-KR" b="1" dirty="0" smtClean="0"/>
          </a:p>
          <a:p>
            <a:endParaRPr lang="en-US" altLang="ko-KR" b="1" dirty="0" smtClean="0"/>
          </a:p>
          <a:p>
            <a:endParaRPr lang="en-US" altLang="ko-KR" b="1" dirty="0" smtClean="0"/>
          </a:p>
          <a:p>
            <a:endParaRPr lang="en-US" altLang="ko-KR" b="1" dirty="0" smtClean="0"/>
          </a:p>
          <a:p>
            <a:endParaRPr lang="en-US" altLang="ko-KR" b="1" dirty="0" smtClean="0"/>
          </a:p>
          <a:p>
            <a:endParaRPr lang="en-US" altLang="ko-KR" b="1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E39CE-593D-4CE9-91A1-363977ECE60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2684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Meta-Llama</a:t>
            </a:r>
            <a:r>
              <a:rPr lang="ko-KR" altLang="en-US" dirty="0" smtClean="0"/>
              <a:t>에서 확인한 </a:t>
            </a:r>
            <a:r>
              <a:rPr lang="en-US" altLang="ko-KR" dirty="0" smtClean="0"/>
              <a:t>R/M Gap component</a:t>
            </a:r>
            <a:r>
              <a:rPr lang="ko-KR" altLang="en-US" dirty="0" smtClean="0"/>
              <a:t>가 다른 </a:t>
            </a:r>
            <a:r>
              <a:rPr lang="en-US" altLang="ko-KR" dirty="0" smtClean="0"/>
              <a:t>base </a:t>
            </a:r>
            <a:r>
              <a:rPr lang="ko-KR" altLang="en-US" dirty="0" smtClean="0"/>
              <a:t>모델에서도 나타나는지 확인했습니다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여기서는 같은 번호의 </a:t>
            </a:r>
            <a:r>
              <a:rPr lang="en-US" altLang="ko-KR" dirty="0" smtClean="0"/>
              <a:t>Head</a:t>
            </a:r>
            <a:r>
              <a:rPr lang="ko-KR" altLang="en-US" dirty="0" smtClean="0"/>
              <a:t>나 </a:t>
            </a:r>
            <a:r>
              <a:rPr lang="en-US" altLang="ko-KR" dirty="0" smtClean="0"/>
              <a:t>Neuron</a:t>
            </a:r>
            <a:r>
              <a:rPr lang="ko-KR" altLang="en-US" dirty="0" smtClean="0"/>
              <a:t>을 찾는 것이 아니라</a:t>
            </a:r>
            <a:r>
              <a:rPr lang="en-US" altLang="ko-KR" dirty="0" smtClean="0"/>
              <a:t>, </a:t>
            </a:r>
          </a:p>
          <a:p>
            <a:r>
              <a:rPr lang="en-US" altLang="ko-KR" b="1" dirty="0" smtClean="0"/>
              <a:t>R</a:t>
            </a:r>
            <a:r>
              <a:rPr lang="ko-KR" altLang="en-US" b="1" dirty="0" smtClean="0"/>
              <a:t>과 </a:t>
            </a:r>
            <a:r>
              <a:rPr lang="en-US" altLang="ko-KR" b="1" dirty="0" smtClean="0"/>
              <a:t>M</a:t>
            </a:r>
            <a:r>
              <a:rPr lang="ko-KR" altLang="en-US" b="1" dirty="0" smtClean="0"/>
              <a:t>에서 다르게 기여하고 억제했을 때 </a:t>
            </a:r>
            <a:r>
              <a:rPr lang="en-US" altLang="ko-KR" b="1" dirty="0" smtClean="0"/>
              <a:t>R/M gap</a:t>
            </a:r>
            <a:r>
              <a:rPr lang="ko-KR" altLang="en-US" b="1" dirty="0" smtClean="0"/>
              <a:t>이 줄어드는 기능적으로 비슷한 </a:t>
            </a:r>
            <a:r>
              <a:rPr lang="en-US" altLang="ko-KR" b="1" dirty="0" smtClean="0"/>
              <a:t>component</a:t>
            </a:r>
            <a:r>
              <a:rPr lang="ko-KR" altLang="en-US" b="1" dirty="0" smtClean="0"/>
              <a:t>가 존재하는지</a:t>
            </a:r>
            <a:r>
              <a:rPr lang="ko-KR" altLang="en-US" dirty="0" smtClean="0"/>
              <a:t> 확인했습니다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그 결과 </a:t>
            </a:r>
            <a:r>
              <a:rPr lang="en-US" altLang="ko-KR" dirty="0" smtClean="0"/>
              <a:t>Mistral</a:t>
            </a:r>
            <a:r>
              <a:rPr lang="ko-KR" altLang="en-US" dirty="0" smtClean="0"/>
              <a:t>과 </a:t>
            </a:r>
            <a:r>
              <a:rPr lang="en-US" altLang="ko-KR" dirty="0" err="1" smtClean="0"/>
              <a:t>OLMo</a:t>
            </a:r>
            <a:r>
              <a:rPr lang="ko-KR" altLang="en-US" dirty="0" smtClean="0"/>
              <a:t>에서는 </a:t>
            </a:r>
            <a:r>
              <a:rPr lang="en-US" altLang="ko-KR" dirty="0" smtClean="0"/>
              <a:t>Head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Neuron</a:t>
            </a:r>
            <a:r>
              <a:rPr lang="ko-KR" altLang="en-US" dirty="0" smtClean="0"/>
              <a:t>이 모두 확인됐지만</a:t>
            </a:r>
            <a:r>
              <a:rPr lang="en-US" altLang="ko-KR" dirty="0" smtClean="0"/>
              <a:t>, </a:t>
            </a:r>
          </a:p>
          <a:p>
            <a:r>
              <a:rPr lang="en-US" altLang="ko-KR" dirty="0" smtClean="0"/>
              <a:t>Gemma</a:t>
            </a:r>
            <a:r>
              <a:rPr lang="ko-KR" altLang="en-US" dirty="0" smtClean="0"/>
              <a:t>에서는 </a:t>
            </a:r>
            <a:r>
              <a:rPr lang="en-US" altLang="ko-KR" dirty="0" smtClean="0"/>
              <a:t>strict </a:t>
            </a:r>
            <a:r>
              <a:rPr lang="ko-KR" altLang="en-US" dirty="0" smtClean="0"/>
              <a:t>기준을 통과한 후보가 없었습니다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따라서 이 기능적 패턴은 일부 모델에서 반복됐지만</a:t>
            </a:r>
            <a:r>
              <a:rPr lang="en-US" altLang="ko-KR" dirty="0" smtClean="0"/>
              <a:t>, </a:t>
            </a:r>
            <a:r>
              <a:rPr lang="ko-KR" altLang="en-US" dirty="0" smtClean="0"/>
              <a:t>모든 모델에 공통적인 구조라고 보기는 어렵습니다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E39CE-593D-4CE9-91A1-363977ECE60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05626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Meta-Llama, Mistral, </a:t>
            </a:r>
            <a:r>
              <a:rPr lang="en-US" altLang="ko-KR" dirty="0" err="1" smtClean="0"/>
              <a:t>OLMo</a:t>
            </a:r>
            <a:r>
              <a:rPr lang="ko-KR" altLang="en-US" dirty="0" smtClean="0"/>
              <a:t>에서는 </a:t>
            </a:r>
            <a:r>
              <a:rPr lang="en-US" altLang="ko-KR" dirty="0" smtClean="0"/>
              <a:t>R </a:t>
            </a:r>
            <a:r>
              <a:rPr lang="ko-KR" altLang="en-US" dirty="0" smtClean="0"/>
              <a:t>방향을 지지하는 </a:t>
            </a:r>
            <a:r>
              <a:rPr lang="en-US" altLang="ko-KR" dirty="0" smtClean="0"/>
              <a:t>Head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Neuron</a:t>
            </a:r>
            <a:r>
              <a:rPr lang="ko-KR" altLang="en-US" dirty="0" smtClean="0"/>
              <a:t>이 반복적으로 확인됐습니다</a:t>
            </a:r>
            <a:r>
              <a:rPr lang="en-US" altLang="ko-KR" dirty="0" smtClean="0"/>
              <a:t>. 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하지만 </a:t>
            </a:r>
            <a:r>
              <a:rPr lang="en-US" altLang="ko-KR" dirty="0" smtClean="0"/>
              <a:t>Gemma</a:t>
            </a:r>
            <a:r>
              <a:rPr lang="ko-KR" altLang="en-US" dirty="0" smtClean="0"/>
              <a:t>에서는 최종 </a:t>
            </a:r>
            <a:r>
              <a:rPr lang="en-US" altLang="ko-KR" dirty="0" smtClean="0"/>
              <a:t>strict </a:t>
            </a:r>
            <a:r>
              <a:rPr lang="ko-KR" altLang="en-US" dirty="0" smtClean="0"/>
              <a:t>기준을 통과하지 못했기 때문에</a:t>
            </a:r>
            <a:r>
              <a:rPr lang="en-US" altLang="ko-KR" dirty="0" smtClean="0"/>
              <a:t>, </a:t>
            </a:r>
            <a:r>
              <a:rPr lang="ko-KR" altLang="en-US" dirty="0" smtClean="0"/>
              <a:t>보편적인 구조라고 단정할 수는 없습니다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 smtClean="0"/>
              <a:t>Strict</a:t>
            </a:r>
            <a:r>
              <a:rPr lang="en-US" altLang="ko-KR" b="1" baseline="0" dirty="0" smtClean="0"/>
              <a:t> PASS : </a:t>
            </a:r>
            <a:r>
              <a:rPr lang="en-US" altLang="ko-KR" b="1" dirty="0" smtClean="0"/>
              <a:t>R </a:t>
            </a:r>
            <a:r>
              <a:rPr lang="ko-KR" altLang="en-US" b="1" dirty="0" smtClean="0"/>
              <a:t>방향으로 움직이는 것처럼 보이는 후보가 아니라</a:t>
            </a:r>
            <a:r>
              <a:rPr lang="en-US" altLang="ko-KR" b="1" dirty="0" smtClean="0"/>
              <a:t>, </a:t>
            </a:r>
            <a:br>
              <a:rPr lang="en-US" altLang="ko-KR" b="1" dirty="0" smtClean="0"/>
            </a:br>
            <a:r>
              <a:rPr lang="ko-KR" altLang="en-US" b="1" dirty="0" smtClean="0"/>
              <a:t>새로운 데이터에서도 반복되고 실제로 꺼봤을 때 </a:t>
            </a:r>
            <a:r>
              <a:rPr lang="en-US" altLang="ko-KR" b="1" dirty="0" smtClean="0"/>
              <a:t>R/M </a:t>
            </a:r>
            <a:r>
              <a:rPr lang="ko-KR" altLang="en-US" b="1" dirty="0" smtClean="0"/>
              <a:t>차이를 줄이는 후보만 최종적으로 남긴 것입니다</a:t>
            </a:r>
            <a:r>
              <a:rPr lang="en-US" altLang="ko-KR" b="1" dirty="0" smtClean="0"/>
              <a:t>.</a:t>
            </a:r>
          </a:p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E39CE-593D-4CE9-91A1-363977ECE603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22932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smtClean="0"/>
              <a:t>M-direction component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M </a:t>
            </a:r>
            <a:r>
              <a:rPr lang="ko-KR" altLang="en-US" dirty="0" smtClean="0"/>
              <a:t>문항에서 </a:t>
            </a:r>
            <a:r>
              <a:rPr lang="en-US" altLang="ko-KR" dirty="0" smtClean="0"/>
              <a:t>M </a:t>
            </a:r>
            <a:r>
              <a:rPr lang="ko-KR" altLang="en-US" dirty="0" smtClean="0"/>
              <a:t>방향 표현을 지지하고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억제했을 때 </a:t>
            </a:r>
            <a:r>
              <a:rPr lang="en-US" altLang="ko-KR" dirty="0" smtClean="0"/>
              <a:t>R/M gap</a:t>
            </a:r>
            <a:r>
              <a:rPr lang="ko-KR" altLang="en-US" dirty="0" smtClean="0"/>
              <a:t>을 줄이는 요소입니다</a:t>
            </a:r>
            <a:r>
              <a:rPr lang="en-US" altLang="ko-KR" dirty="0" smtClean="0"/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 smtClean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smtClean="0"/>
              <a:t>Meta-Llama, Mistral, </a:t>
            </a:r>
            <a:r>
              <a:rPr lang="en-US" altLang="ko-KR" dirty="0" err="1" smtClean="0"/>
              <a:t>OLMo</a:t>
            </a:r>
            <a:r>
              <a:rPr lang="ko-KR" altLang="en-US" dirty="0" smtClean="0"/>
              <a:t>에서는 </a:t>
            </a:r>
            <a:r>
              <a:rPr lang="en-US" altLang="ko-KR" dirty="0" smtClean="0"/>
              <a:t>Head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Neuron</a:t>
            </a:r>
            <a:r>
              <a:rPr lang="ko-KR" altLang="en-US" dirty="0" smtClean="0"/>
              <a:t>이 모두 확인됐고</a:t>
            </a:r>
            <a:r>
              <a:rPr lang="en-US" altLang="ko-KR" dirty="0" smtClean="0"/>
              <a:t>,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smtClean="0"/>
              <a:t>Gemma</a:t>
            </a:r>
            <a:r>
              <a:rPr lang="ko-KR" altLang="en-US" dirty="0" smtClean="0"/>
              <a:t>에서도 </a:t>
            </a:r>
            <a:r>
              <a:rPr lang="en-US" altLang="ko-KR" dirty="0" smtClean="0"/>
              <a:t>Head 2</a:t>
            </a:r>
            <a:r>
              <a:rPr lang="ko-KR" altLang="en-US" dirty="0" smtClean="0"/>
              <a:t>개가 확인됐습니다</a:t>
            </a:r>
            <a:r>
              <a:rPr lang="en-US" altLang="ko-KR" dirty="0" smtClean="0"/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 smtClean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따라서 </a:t>
            </a:r>
            <a:r>
              <a:rPr lang="en-US" altLang="ko-KR" dirty="0" smtClean="0"/>
              <a:t>M </a:t>
            </a:r>
            <a:r>
              <a:rPr lang="ko-KR" altLang="en-US" dirty="0" smtClean="0"/>
              <a:t>방향 표현을 지지하는 기능적 패턴은 여러 모델에서 반복됐지만</a:t>
            </a:r>
            <a:r>
              <a:rPr lang="en-US" altLang="ko-KR" dirty="0" smtClean="0"/>
              <a:t>,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동일한 공통 회로라고 단정할 수는 없습니다</a:t>
            </a:r>
            <a:r>
              <a:rPr lang="en-US" altLang="ko-KR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E39CE-593D-4CE9-91A1-363977ECE60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38711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앞에서는 </a:t>
            </a:r>
            <a:r>
              <a:rPr lang="en-US" altLang="ko-KR" dirty="0" smtClean="0"/>
              <a:t>R/M </a:t>
            </a:r>
            <a:r>
              <a:rPr lang="ko-KR" altLang="en-US" dirty="0" smtClean="0"/>
              <a:t>내부 표현에 기여하는 후보를 확인했습니다</a:t>
            </a:r>
            <a:r>
              <a:rPr lang="en-US" altLang="ko-KR" dirty="0" smtClean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이번에는 </a:t>
            </a:r>
            <a:r>
              <a:rPr lang="en-US" altLang="ko-KR" dirty="0" smtClean="0"/>
              <a:t>R·M </a:t>
            </a:r>
            <a:r>
              <a:rPr lang="ko-KR" altLang="en-US" dirty="0" smtClean="0"/>
              <a:t>방향 후보의 중복을 제거한 </a:t>
            </a:r>
            <a:r>
              <a:rPr lang="en-US" altLang="ko-KR" b="1" dirty="0" smtClean="0"/>
              <a:t>13</a:t>
            </a:r>
            <a:r>
              <a:rPr lang="ko-KR" altLang="en-US" b="1" dirty="0" smtClean="0"/>
              <a:t>개의 요소를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smtClean="0"/>
              <a:t>50%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100% </a:t>
            </a:r>
            <a:r>
              <a:rPr lang="ko-KR" altLang="en-US" dirty="0" smtClean="0"/>
              <a:t>억제하고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LiReF</a:t>
            </a:r>
            <a:r>
              <a:rPr lang="ko-KR" altLang="en-US" dirty="0" smtClean="0"/>
              <a:t>에서 사용한 다른 </a:t>
            </a:r>
            <a:r>
              <a:rPr lang="ko-KR" altLang="en-US" dirty="0" smtClean="0"/>
              <a:t>객관식 문항의 </a:t>
            </a:r>
            <a:r>
              <a:rPr lang="ko-KR" altLang="en-US" dirty="0" err="1" smtClean="0"/>
              <a:t>정답률과</a:t>
            </a:r>
            <a:r>
              <a:rPr lang="ko-KR" altLang="en-US" dirty="0" smtClean="0"/>
              <a:t> 정답 확률을 측정했습니다</a:t>
            </a:r>
            <a:r>
              <a:rPr lang="en-US" altLang="ko-KR" dirty="0" smtClean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그 결과 </a:t>
            </a:r>
            <a:r>
              <a:rPr lang="en-US" altLang="ko-KR" dirty="0" smtClean="0"/>
              <a:t>3</a:t>
            </a:r>
            <a:r>
              <a:rPr lang="ko-KR" altLang="en-US" dirty="0" smtClean="0"/>
              <a:t>개 </a:t>
            </a:r>
            <a:r>
              <a:rPr lang="en-US" altLang="ko-KR" dirty="0" smtClean="0"/>
              <a:t>Head</a:t>
            </a:r>
            <a:r>
              <a:rPr lang="ko-KR" altLang="en-US" dirty="0" smtClean="0"/>
              <a:t>에서 정답 확률이 소폭 변했지만</a:t>
            </a:r>
            <a:r>
              <a:rPr lang="en-US" altLang="ko-KR" dirty="0" smtClean="0"/>
              <a:t>, </a:t>
            </a:r>
            <a:r>
              <a:rPr lang="ko-KR" altLang="en-US" b="1" dirty="0" err="1" smtClean="0"/>
              <a:t>정답률까지</a:t>
            </a:r>
            <a:r>
              <a:rPr lang="ko-KR" altLang="en-US" b="1" dirty="0" smtClean="0"/>
              <a:t> 안정적으로 감소한 후보는 없었습니다</a:t>
            </a:r>
            <a:r>
              <a:rPr lang="en-US" altLang="ko-KR" b="1" dirty="0" smtClean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/>
            </a:r>
            <a:br>
              <a:rPr lang="ko-KR" altLang="en-US" dirty="0" smtClean="0"/>
            </a:br>
            <a:r>
              <a:rPr lang="ko-KR" altLang="en-US" dirty="0" smtClean="0"/>
              <a:t>따라서 이 부품들이 </a:t>
            </a:r>
            <a:r>
              <a:rPr lang="en-US" altLang="ko-KR" dirty="0" smtClean="0"/>
              <a:t>R/M </a:t>
            </a:r>
            <a:r>
              <a:rPr lang="ko-KR" altLang="en-US" dirty="0" smtClean="0"/>
              <a:t>내부 표현에는 기여하지만</a:t>
            </a:r>
            <a:r>
              <a:rPr lang="en-US" altLang="ko-KR" dirty="0" smtClean="0"/>
              <a:t>, </a:t>
            </a:r>
            <a:r>
              <a:rPr lang="ko-KR" altLang="en-US" b="1" dirty="0" smtClean="0"/>
              <a:t>실제 정답 선택에 필수적이라는 증거는 확인하지 못했습니다</a:t>
            </a:r>
            <a:r>
              <a:rPr lang="en-US" altLang="ko-KR" b="1" dirty="0" smtClean="0"/>
              <a:t>.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E39CE-593D-4CE9-91A1-363977ECE60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548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6089017E-3871-FBA1-192D-61544EDF66FC}"/>
              </a:ext>
            </a:extLst>
          </p:cNvPr>
          <p:cNvSpPr/>
          <p:nvPr userDrawn="1"/>
        </p:nvSpPr>
        <p:spPr>
          <a:xfrm>
            <a:off x="0" y="-1"/>
            <a:ext cx="12192000" cy="3446275"/>
          </a:xfrm>
          <a:prstGeom prst="rect">
            <a:avLst/>
          </a:prstGeom>
          <a:solidFill>
            <a:srgbClr val="2F41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85081EF-A25E-41D0-EE99-6FBB85BE23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1219898"/>
            <a:ext cx="10515600" cy="1006475"/>
          </a:xfrm>
        </p:spPr>
        <p:txBody>
          <a:bodyPr anchor="ctr">
            <a:no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altLang="ko-KR"/>
              <a:t>Team Project Name / Detailed Research Topic</a:t>
            </a: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5DF69E3-87CA-5546-CB19-56B7796006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2426728"/>
            <a:ext cx="10515600" cy="57551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Report on research progress and future plans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BAACB1-0026-17A2-1413-A5F178D7D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98E72-02D7-44AC-9600-40952647BF6B}" type="datetime1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580E5C-FDF7-A6A3-1618-4E64C3940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85CB46-D869-0F04-3B88-400AC54F5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fld id="{0A3194FA-658A-46A5-BE65-371FA89C6DF6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E247272-F666-96F9-39F1-FAC3227C38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134" r="9213"/>
          <a:stretch>
            <a:fillRect/>
          </a:stretch>
        </p:blipFill>
        <p:spPr>
          <a:xfrm>
            <a:off x="10558057" y="6084711"/>
            <a:ext cx="1461082" cy="648052"/>
          </a:xfrm>
          <a:prstGeom prst="rect">
            <a:avLst/>
          </a:prstGeom>
        </p:spPr>
      </p:pic>
      <p:pic>
        <p:nvPicPr>
          <p:cNvPr id="16" name="그래픽 15" descr="사용자 단색으로 채워진">
            <a:extLst>
              <a:ext uri="{FF2B5EF4-FFF2-40B4-BE49-F238E27FC236}">
                <a16:creationId xmlns:a16="http://schemas.microsoft.com/office/drawing/2014/main" id="{19E0B1A1-A836-5DB3-8FBE-69A6966340A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89909" y="3736128"/>
            <a:ext cx="530411" cy="530411"/>
          </a:xfrm>
          <a:prstGeom prst="rect">
            <a:avLst/>
          </a:prstGeom>
        </p:spPr>
      </p:pic>
      <p:sp>
        <p:nvSpPr>
          <p:cNvPr id="22" name="텍스트 개체 틀 21">
            <a:extLst>
              <a:ext uri="{FF2B5EF4-FFF2-40B4-BE49-F238E27FC236}">
                <a16:creationId xmlns:a16="http://schemas.microsoft.com/office/drawing/2014/main" id="{D76E4D91-0421-9354-26EF-8B26C1CB06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69426" y="3852235"/>
            <a:ext cx="2174781" cy="325410"/>
          </a:xfrm>
        </p:spPr>
        <p:txBody>
          <a:bodyPr>
            <a:spAutoFit/>
          </a:bodyPr>
          <a:lstStyle>
            <a:lvl1pPr>
              <a:buNone/>
              <a:defRPr sz="1400" b="1"/>
            </a:lvl1pPr>
          </a:lstStyle>
          <a:p>
            <a:pPr lvl="0"/>
            <a:r>
              <a:rPr lang="en-US" altLang="ko-KR"/>
              <a:t>Name</a:t>
            </a:r>
            <a:endParaRPr lang="ko-KR" altLang="en-US"/>
          </a:p>
        </p:txBody>
      </p:sp>
      <p:sp>
        <p:nvSpPr>
          <p:cNvPr id="24" name="텍스트 개체 틀 21">
            <a:extLst>
              <a:ext uri="{FF2B5EF4-FFF2-40B4-BE49-F238E27FC236}">
                <a16:creationId xmlns:a16="http://schemas.microsoft.com/office/drawing/2014/main" id="{C1BB57BE-449A-DA43-F320-A5CB1FD444E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69426" y="4630461"/>
            <a:ext cx="2174781" cy="325410"/>
          </a:xfrm>
        </p:spPr>
        <p:txBody>
          <a:bodyPr>
            <a:spAutoFit/>
          </a:bodyPr>
          <a:lstStyle>
            <a:lvl1pPr>
              <a:buNone/>
              <a:defRPr sz="1400" b="1"/>
            </a:lvl1pPr>
          </a:lstStyle>
          <a:p>
            <a:pPr lvl="0"/>
            <a:r>
              <a:rPr lang="en-US" altLang="ko-KR"/>
              <a:t>Department</a:t>
            </a:r>
            <a:endParaRPr lang="ko-KR" altLang="en-US"/>
          </a:p>
        </p:txBody>
      </p:sp>
      <p:pic>
        <p:nvPicPr>
          <p:cNvPr id="26" name="그래픽 25" descr="모니터 단색으로 채워진">
            <a:extLst>
              <a:ext uri="{FF2B5EF4-FFF2-40B4-BE49-F238E27FC236}">
                <a16:creationId xmlns:a16="http://schemas.microsoft.com/office/drawing/2014/main" id="{1FB5E203-8255-0D67-1A94-D95D73C5C9A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989909" y="4518307"/>
            <a:ext cx="529200" cy="529200"/>
          </a:xfrm>
          <a:prstGeom prst="rect">
            <a:avLst/>
          </a:prstGeom>
        </p:spPr>
      </p:pic>
      <p:pic>
        <p:nvPicPr>
          <p:cNvPr id="30" name="그래픽 29" descr="일일 일정표 단색으로 채워진">
            <a:extLst>
              <a:ext uri="{FF2B5EF4-FFF2-40B4-BE49-F238E27FC236}">
                <a16:creationId xmlns:a16="http://schemas.microsoft.com/office/drawing/2014/main" id="{458ABEFC-BA30-34C5-E896-72FB7143B8AB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989909" y="5305081"/>
            <a:ext cx="529200" cy="529200"/>
          </a:xfrm>
          <a:prstGeom prst="rect">
            <a:avLst/>
          </a:prstGeom>
        </p:spPr>
      </p:pic>
      <p:sp>
        <p:nvSpPr>
          <p:cNvPr id="31" name="텍스트 개체 틀 21">
            <a:extLst>
              <a:ext uri="{FF2B5EF4-FFF2-40B4-BE49-F238E27FC236}">
                <a16:creationId xmlns:a16="http://schemas.microsoft.com/office/drawing/2014/main" id="{68A36BBC-B37B-0702-1550-25BBD4F44A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69426" y="5421210"/>
            <a:ext cx="2174781" cy="325410"/>
          </a:xfrm>
        </p:spPr>
        <p:txBody>
          <a:bodyPr>
            <a:spAutoFit/>
          </a:bodyPr>
          <a:lstStyle>
            <a:lvl1pPr>
              <a:buNone/>
              <a:defRPr sz="1400" b="1"/>
            </a:lvl1pPr>
          </a:lstStyle>
          <a:p>
            <a:pPr lvl="0"/>
            <a:r>
              <a:rPr lang="en-US" altLang="ko-KR"/>
              <a:t>YYYY-MM-DD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8129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C12BEB-E4AE-5436-1047-09D8F7085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98986F-7E4C-E61D-1D6D-63E188966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235426-DFB8-381A-8D9A-F8600CBD3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707F6-5371-4BE5-A283-6E0CF727E331}" type="datetime1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0F6C61-B415-3D47-F9C8-3D7097906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F1705B-D71D-1414-C92F-E03C28315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194FA-658A-46A5-BE65-371FA89C6DF6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B240F44-D7C5-A44B-C16D-C54ED2D8DFA2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solidFill>
            <a:srgbClr val="2F41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5774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C16336-5966-600A-CF0C-F806049DD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6937AB2-0EEA-8983-9B4D-51DB511DE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A4F21-71E0-4F92-A808-94094529FF81}" type="datetime1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657A437-3E6F-194F-8D8B-4D9E425EB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8FA6F46-73E5-5D28-B79F-378AE27B2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194FA-658A-46A5-BE65-371FA89C6DF6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79823B5-DC42-8053-971B-B1F490E8255B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solidFill>
            <a:srgbClr val="2F41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9135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FC5DD8-1AC5-1E24-3203-A3B49C33E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9F34A5-0C96-2702-7666-8F047E596A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93014F-C1E5-3FA2-522C-88834A6A8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97EE5-4FC5-4271-9C6D-248E230FFFD8}" type="datetime1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F357EC-8CDA-327A-0C5C-F622E776F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7198E5-1D75-1565-ED31-98304B74E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194FA-658A-46A5-BE65-371FA89C6D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3361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033B16-4FC1-C984-61A1-BAB430D18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2567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03CEB1-B37F-CD6F-5E22-0C3BA28DA8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4037B1B-3D21-B7DB-0814-1A261F248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AB36CD5-735B-BA51-574D-C903864B6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E8252-D7CD-4704-8364-54E663AD228A}" type="datetime1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1766AA-F310-3218-A869-15E09867D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C4FD0F-289A-8C2A-088C-E988B6352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194FA-658A-46A5-BE65-371FA89C6D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5502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28BEE1-267C-09B5-8E39-7FD1CA82F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6C846BF-3479-9BDF-79DE-5EBDD2D1C8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69269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1E88751-195C-76BB-C233-F9F96899A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93181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8A34CF8-CFD5-0B67-95C2-36900CF7B9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69269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9692735-97C4-25F7-D353-91D6342AD6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93181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462C3AA-D25B-5D26-1668-F234FA1E5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1FA0B-FC57-474C-9189-1F7BFD528DA8}" type="datetime1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C052C4F-1248-C95D-C3E9-941162683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6659CDF-9958-7781-23A1-FAAAC1C5C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194FA-658A-46A5-BE65-371FA89C6D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9554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E02C34A-753E-81BC-5490-719761B9D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196C8-5EFE-4AA5-9406-7ACFA776F774}" type="datetime1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E88C5AD-A06C-05DE-97DA-D8AC8543A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1179C3-DB15-8246-8AF0-B9628C737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194FA-658A-46A5-BE65-371FA89C6D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0079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7073" y="2920382"/>
            <a:ext cx="6675120" cy="2468880"/>
          </a:xfrm>
        </p:spPr>
        <p:txBody>
          <a:bodyPr anchor="t" anchorCtr="0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073" y="5413788"/>
            <a:ext cx="6675120" cy="64008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85760" y="0"/>
            <a:ext cx="4206240" cy="6858000"/>
          </a:xfrm>
          <a:blipFill dpi="0" rotWithShape="1">
            <a:blip r:embed="rId2">
              <a:alphaModFix amt="60000"/>
            </a:blip>
            <a:srcRect/>
            <a:stretch>
              <a:fillRect l="-56812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BEFB6B4-A1CA-B788-D366-460FCF81670F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25164" y="1893372"/>
            <a:ext cx="36576" cy="52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1160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9CB982B-6E84-D8D6-E250-0F50AE17E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48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DBBCD0-9311-8D24-923C-7F65BFEF9E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1531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3C7FB7-C1C2-1CEB-8CC9-52AF52F26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F6898F-832C-494D-B2BD-5EF0058C82AF}" type="datetime1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46335B-6F44-CF1F-D302-9E23272EEA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458B55-35D4-6E6B-F506-C31AC59822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345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3194FA-658A-46A5-BE65-371FA89C6D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9160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81" r:id="rId3"/>
    <p:sldLayoutId id="2147483678" r:id="rId4"/>
    <p:sldLayoutId id="2147483679" r:id="rId5"/>
    <p:sldLayoutId id="2147483680" r:id="rId6"/>
    <p:sldLayoutId id="2147483682" r:id="rId7"/>
    <p:sldLayoutId id="2147483683" r:id="rId8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모서리가 둥근 직사각형 10"/>
          <p:cNvSpPr/>
          <p:nvPr/>
        </p:nvSpPr>
        <p:spPr>
          <a:xfrm>
            <a:off x="838200" y="4818076"/>
            <a:ext cx="5873659" cy="67165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LiReF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194FA-658A-46A5-BE65-371FA89C6DF6}" type="slidenum">
              <a:rPr lang="ko-KR" altLang="en-US" smtClean="0"/>
              <a:t>1</a:t>
            </a:fld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318006"/>
            <a:ext cx="11060262" cy="2662207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838200" y="4843401"/>
            <a:ext cx="587365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이 </a:t>
            </a:r>
            <a:r>
              <a:rPr lang="en-US" altLang="ko-KR" dirty="0"/>
              <a:t>R/M </a:t>
            </a:r>
            <a:r>
              <a:rPr lang="ko-KR" altLang="en-US" dirty="0" smtClean="0"/>
              <a:t>차이가 어떻게 만들어지는가</a:t>
            </a:r>
            <a:r>
              <a:rPr lang="en-US" altLang="ko-KR" dirty="0" smtClean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실제로 </a:t>
            </a:r>
            <a:r>
              <a:rPr lang="ko-KR" altLang="en-US" dirty="0"/>
              <a:t>그 차이에 기여하는 </a:t>
            </a:r>
            <a:r>
              <a:rPr lang="en-US" altLang="ko-KR" dirty="0"/>
              <a:t>Head/Neuron</a:t>
            </a:r>
            <a:r>
              <a:rPr lang="ko-KR" altLang="en-US" dirty="0"/>
              <a:t>이 </a:t>
            </a:r>
            <a:r>
              <a:rPr lang="ko-KR" altLang="en-US" dirty="0" smtClean="0"/>
              <a:t>있는가</a:t>
            </a:r>
            <a:r>
              <a:rPr lang="en-US" altLang="ko-KR" dirty="0"/>
              <a:t>?</a:t>
            </a:r>
            <a:endParaRPr lang="en-US" altLang="ko-KR" dirty="0" smtClean="0"/>
          </a:p>
        </p:txBody>
      </p:sp>
      <p:sp>
        <p:nvSpPr>
          <p:cNvPr id="10" name="TextBox 9"/>
          <p:cNvSpPr txBox="1"/>
          <p:nvPr/>
        </p:nvSpPr>
        <p:spPr>
          <a:xfrm>
            <a:off x="838200" y="4258626"/>
            <a:ext cx="17722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/>
              <a:t>- </a:t>
            </a:r>
            <a:r>
              <a:rPr lang="ko-KR" altLang="en-US" sz="3200" b="1" dirty="0" smtClean="0"/>
              <a:t>의문점</a:t>
            </a:r>
            <a:endParaRPr lang="en-US" altLang="ko-KR" sz="3200" b="1" dirty="0" smtClean="0"/>
          </a:p>
        </p:txBody>
      </p:sp>
    </p:spTree>
    <p:extLst>
      <p:ext uri="{BB962C8B-B14F-4D97-AF65-F5344CB8AC3E}">
        <p14:creationId xmlns:p14="http://schemas.microsoft.com/office/powerpoint/2010/main" val="2496466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194FA-658A-46A5-BE65-371FA89C6DF6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11" name="제목 1"/>
          <p:cNvSpPr>
            <a:spLocks noGrp="1"/>
          </p:cNvSpPr>
          <p:nvPr>
            <p:ph type="title"/>
          </p:nvPr>
        </p:nvSpPr>
        <p:spPr>
          <a:xfrm>
            <a:off x="838200" y="454818"/>
            <a:ext cx="10515600" cy="1325563"/>
          </a:xfrm>
        </p:spPr>
        <p:txBody>
          <a:bodyPr/>
          <a:lstStyle/>
          <a:p>
            <a:r>
              <a:rPr lang="en-US" altLang="ko-KR" dirty="0" smtClean="0"/>
              <a:t>Meta-Llama-3-8B </a:t>
            </a:r>
            <a:r>
              <a:rPr lang="ko-KR" altLang="en-US" dirty="0" smtClean="0"/>
              <a:t>내부 분석</a:t>
            </a:r>
            <a:endParaRPr lang="ko-KR" altLang="en-US" dirty="0"/>
          </a:p>
        </p:txBody>
      </p:sp>
      <p:sp>
        <p:nvSpPr>
          <p:cNvPr id="35" name="모서리가 둥근 직사각형 34"/>
          <p:cNvSpPr/>
          <p:nvPr/>
        </p:nvSpPr>
        <p:spPr>
          <a:xfrm>
            <a:off x="838200" y="1593055"/>
            <a:ext cx="5597013" cy="512842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838200" y="1656223"/>
            <a:ext cx="559701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 smtClean="0"/>
              <a:t>R/M Representation Gap </a:t>
            </a:r>
            <a:r>
              <a:rPr lang="ko-KR" altLang="en-US" sz="2000" b="1" dirty="0" smtClean="0"/>
              <a:t>분석</a:t>
            </a:r>
            <a:r>
              <a:rPr lang="ko-KR" altLang="en-US" sz="2000" b="1" dirty="0"/>
              <a:t/>
            </a:r>
            <a:br>
              <a:rPr lang="ko-KR" altLang="en-US" sz="2000" b="1" dirty="0"/>
            </a:br>
            <a:r>
              <a:rPr lang="ko-KR" altLang="en-US" sz="2000" b="1" dirty="0"/>
              <a:t>↓</a:t>
            </a:r>
            <a:br>
              <a:rPr lang="ko-KR" altLang="en-US" sz="2000" b="1" dirty="0"/>
            </a:br>
            <a:r>
              <a:rPr lang="en-US" altLang="ko-KR" sz="2000" b="1" dirty="0"/>
              <a:t>Stage A — </a:t>
            </a:r>
            <a:r>
              <a:rPr lang="ko-KR" altLang="en-US" sz="2000" b="1" dirty="0"/>
              <a:t>후보 </a:t>
            </a:r>
            <a:r>
              <a:rPr lang="ko-KR" altLang="en-US" sz="2000" b="1" dirty="0" smtClean="0"/>
              <a:t>탐색 </a:t>
            </a:r>
            <a:r>
              <a:rPr lang="en-US" altLang="ko-KR" sz="2000" b="1" dirty="0" smtClean="0"/>
              <a:t>(20</a:t>
            </a:r>
            <a:r>
              <a:rPr lang="ko-KR" altLang="en-US" sz="2000" b="1" dirty="0" smtClean="0"/>
              <a:t>개</a:t>
            </a:r>
            <a:r>
              <a:rPr lang="en-US" altLang="ko-KR" sz="2000" b="1" dirty="0" smtClean="0"/>
              <a:t>)</a:t>
            </a:r>
            <a:r>
              <a:rPr lang="ko-KR" altLang="en-US" sz="2000" b="1" dirty="0"/>
              <a:t/>
            </a:r>
            <a:br>
              <a:rPr lang="ko-KR" altLang="en-US" sz="2000" b="1" dirty="0"/>
            </a:br>
            <a:r>
              <a:rPr lang="en-US" altLang="ko-KR" sz="2000" b="1" dirty="0"/>
              <a:t>Layer → Attention/FFN → Head/Neuron</a:t>
            </a:r>
            <a:br>
              <a:rPr lang="en-US" altLang="ko-KR" sz="2000" b="1" dirty="0"/>
            </a:br>
            <a:r>
              <a:rPr lang="ko-KR" altLang="en-US" sz="2000" b="1" dirty="0"/>
              <a:t/>
            </a:r>
            <a:br>
              <a:rPr lang="ko-KR" altLang="en-US" sz="2000" b="1" dirty="0"/>
            </a:br>
            <a:r>
              <a:rPr lang="ko-KR" altLang="en-US" sz="2000" b="1" dirty="0"/>
              <a:t/>
            </a:r>
            <a:br>
              <a:rPr lang="ko-KR" altLang="en-US" sz="2000" b="1" dirty="0"/>
            </a:br>
            <a:r>
              <a:rPr lang="en-US" altLang="ko-KR" sz="2000" b="1" dirty="0"/>
              <a:t>Stage B — </a:t>
            </a:r>
            <a:r>
              <a:rPr lang="ko-KR" altLang="en-US" sz="2000" b="1" dirty="0"/>
              <a:t>후보 특성 분석</a:t>
            </a:r>
            <a:r>
              <a:rPr lang="ko-KR" altLang="en-US" sz="2000" b="1" dirty="0" smtClean="0"/>
              <a:t> </a:t>
            </a:r>
            <a:r>
              <a:rPr lang="ko-KR" altLang="en-US" sz="2000" b="1" dirty="0"/>
              <a:t/>
            </a:r>
            <a:br>
              <a:rPr lang="ko-KR" altLang="en-US" sz="2000" b="1" dirty="0"/>
            </a:br>
            <a:r>
              <a:rPr lang="en-US" altLang="ko-KR" sz="2000" b="1" dirty="0"/>
              <a:t>Relation response / Task relevance</a:t>
            </a:r>
            <a:br>
              <a:rPr lang="en-US" altLang="ko-KR" sz="2000" b="1" dirty="0"/>
            </a:br>
            <a:r>
              <a:rPr lang="ko-KR" altLang="en-US" sz="2000" b="1" dirty="0"/>
              <a:t/>
            </a:r>
            <a:br>
              <a:rPr lang="ko-KR" altLang="en-US" sz="2000" b="1" dirty="0"/>
            </a:br>
            <a:r>
              <a:rPr lang="ko-KR" altLang="en-US" sz="2000" b="1" dirty="0"/>
              <a:t/>
            </a:r>
            <a:br>
              <a:rPr lang="ko-KR" altLang="en-US" sz="2000" b="1" dirty="0"/>
            </a:br>
            <a:r>
              <a:rPr lang="en-US" altLang="ko-KR" sz="2000" b="1" dirty="0"/>
              <a:t>Stage C — Causal </a:t>
            </a:r>
            <a:r>
              <a:rPr lang="en-US" altLang="ko-KR" sz="2000" b="1" dirty="0" smtClean="0"/>
              <a:t>Validation</a:t>
            </a:r>
          </a:p>
          <a:p>
            <a:pPr algn="ctr"/>
            <a:r>
              <a:rPr lang="en-US" altLang="ko-KR" sz="2000" b="1" dirty="0"/>
              <a:t>Candidate Suppression (50% / 100%)</a:t>
            </a:r>
            <a:r>
              <a:rPr lang="ko-KR" altLang="en-US" sz="2000" b="1" dirty="0"/>
              <a:t/>
            </a:r>
            <a:br>
              <a:rPr lang="ko-KR" altLang="en-US" sz="2000" b="1" dirty="0"/>
            </a:br>
            <a:r>
              <a:rPr lang="en-US" altLang="ko-KR" sz="2000" b="1" dirty="0" err="1"/>
              <a:t>Heldout</a:t>
            </a:r>
            <a:r>
              <a:rPr lang="en-US" altLang="ko-KR" sz="2000" b="1" dirty="0"/>
              <a:t> + Dose + Control + </a:t>
            </a:r>
            <a:r>
              <a:rPr lang="en-US" altLang="ko-KR" sz="2000" b="1" dirty="0" smtClean="0"/>
              <a:t>Statistics</a:t>
            </a:r>
            <a:br>
              <a:rPr lang="en-US" altLang="ko-KR" sz="2000" b="1" dirty="0" smtClean="0"/>
            </a:br>
            <a:endParaRPr lang="en-US" altLang="ko-KR" sz="2000" b="1" dirty="0" smtClean="0"/>
          </a:p>
          <a:p>
            <a:pPr algn="ctr"/>
            <a:r>
              <a:rPr lang="en-US" altLang="ko-KR" sz="2000" b="1" dirty="0" smtClean="0"/>
              <a:t>9/20 </a:t>
            </a:r>
            <a:r>
              <a:rPr lang="en-US" altLang="ko-KR" sz="2000" b="1" dirty="0"/>
              <a:t>Strict </a:t>
            </a:r>
            <a:r>
              <a:rPr lang="en-US" altLang="ko-KR" sz="2000" b="1" dirty="0" smtClean="0"/>
              <a:t>PASS</a:t>
            </a:r>
            <a:br>
              <a:rPr lang="en-US" altLang="ko-KR" sz="2000" b="1" dirty="0" smtClean="0"/>
            </a:br>
            <a:r>
              <a:rPr lang="en-US" altLang="ko-KR" sz="2000" b="1" dirty="0" smtClean="0"/>
              <a:t>→ </a:t>
            </a:r>
            <a:r>
              <a:rPr lang="en-US" altLang="ko-KR" sz="2000" b="1" dirty="0"/>
              <a:t>Head 4 + Neuron 5</a:t>
            </a:r>
            <a:endParaRPr lang="en-US" altLang="ko-KR" sz="2000" b="1" dirty="0" smtClean="0"/>
          </a:p>
        </p:txBody>
      </p:sp>
      <p:sp>
        <p:nvSpPr>
          <p:cNvPr id="13" name="아래쪽 화살표 12"/>
          <p:cNvSpPr/>
          <p:nvPr/>
        </p:nvSpPr>
        <p:spPr>
          <a:xfrm>
            <a:off x="3541604" y="2012949"/>
            <a:ext cx="200025" cy="31432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아래쪽 화살표 36"/>
          <p:cNvSpPr/>
          <p:nvPr/>
        </p:nvSpPr>
        <p:spPr>
          <a:xfrm>
            <a:off x="3541604" y="3062287"/>
            <a:ext cx="200025" cy="31432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아래쪽 화살표 37"/>
          <p:cNvSpPr/>
          <p:nvPr/>
        </p:nvSpPr>
        <p:spPr>
          <a:xfrm>
            <a:off x="3541604" y="4268787"/>
            <a:ext cx="200025" cy="31432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7205365" y="2012949"/>
            <a:ext cx="42582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 smtClean="0"/>
              <a:t>R/M Gap (H - 4</a:t>
            </a:r>
            <a:r>
              <a:rPr lang="ko-KR" altLang="en-US" sz="2000" b="1" dirty="0" smtClean="0"/>
              <a:t>개</a:t>
            </a:r>
            <a:r>
              <a:rPr lang="en-US" altLang="ko-KR" sz="2000" b="1" dirty="0" smtClean="0"/>
              <a:t>, N – 5</a:t>
            </a:r>
            <a:r>
              <a:rPr lang="ko-KR" altLang="en-US" sz="2000" b="1" dirty="0" smtClean="0"/>
              <a:t>개</a:t>
            </a:r>
            <a:r>
              <a:rPr lang="en-US" altLang="ko-KR" sz="2000" b="1" dirty="0" smtClean="0"/>
              <a:t>)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3691" y="2413059"/>
            <a:ext cx="4258269" cy="210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83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194FA-658A-46A5-BE65-371FA89C6DF6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11" name="제목 1"/>
          <p:cNvSpPr>
            <a:spLocks noGrp="1"/>
          </p:cNvSpPr>
          <p:nvPr>
            <p:ph type="title"/>
          </p:nvPr>
        </p:nvSpPr>
        <p:spPr>
          <a:xfrm>
            <a:off x="838200" y="454818"/>
            <a:ext cx="10515600" cy="1325563"/>
          </a:xfrm>
        </p:spPr>
        <p:txBody>
          <a:bodyPr/>
          <a:lstStyle/>
          <a:p>
            <a:r>
              <a:rPr lang="en-US" altLang="ko-KR" dirty="0"/>
              <a:t>R-direction / M-direction</a:t>
            </a:r>
            <a:endParaRPr lang="ko-KR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6811468" y="2178346"/>
            <a:ext cx="50460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 smtClean="0"/>
              <a:t>M-direction (H – 4</a:t>
            </a:r>
            <a:r>
              <a:rPr lang="ko-KR" altLang="en-US" sz="2000" b="1" dirty="0" smtClean="0"/>
              <a:t>개</a:t>
            </a:r>
            <a:r>
              <a:rPr lang="en-US" altLang="ko-KR" sz="2000" b="1" dirty="0" smtClean="0"/>
              <a:t>, N – 3</a:t>
            </a:r>
            <a:r>
              <a:rPr lang="ko-KR" altLang="en-US" sz="2000" b="1" dirty="0" smtClean="0"/>
              <a:t>개</a:t>
            </a:r>
            <a:r>
              <a:rPr lang="en-US" altLang="ko-KR" sz="2000" b="1" dirty="0" smtClean="0"/>
              <a:t>)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1468" y="2490114"/>
            <a:ext cx="5046063" cy="2060090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363" y="2470749"/>
            <a:ext cx="6453739" cy="207945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38200" y="2149579"/>
            <a:ext cx="50460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 smtClean="0"/>
              <a:t>R-direction (H – 5</a:t>
            </a:r>
            <a:r>
              <a:rPr lang="ko-KR" altLang="en-US" sz="2000" b="1" dirty="0" smtClean="0"/>
              <a:t>개</a:t>
            </a:r>
            <a:r>
              <a:rPr lang="en-US" altLang="ko-KR" sz="2000" b="1" dirty="0" smtClean="0"/>
              <a:t>, N - 5</a:t>
            </a:r>
            <a:r>
              <a:rPr lang="ko-KR" altLang="en-US" sz="2000" b="1" dirty="0" smtClean="0"/>
              <a:t>개</a:t>
            </a:r>
            <a:r>
              <a:rPr lang="en-US" altLang="ko-KR" sz="2000" b="1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37748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194FA-658A-46A5-BE65-371FA89C6DF6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11" name="제목 1"/>
          <p:cNvSpPr>
            <a:spLocks noGrp="1"/>
          </p:cNvSpPr>
          <p:nvPr>
            <p:ph type="title"/>
          </p:nvPr>
        </p:nvSpPr>
        <p:spPr>
          <a:xfrm>
            <a:off x="838198" y="25422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200" dirty="0"/>
              <a:t>다른 모델에서도 </a:t>
            </a:r>
            <a:r>
              <a:rPr lang="en-US" altLang="ko-KR" sz="3200" dirty="0"/>
              <a:t>R/M Gap Component</a:t>
            </a:r>
            <a:r>
              <a:rPr lang="ko-KR" altLang="en-US" sz="3200" dirty="0"/>
              <a:t>가 나타나는가</a:t>
            </a:r>
            <a:r>
              <a:rPr lang="en-US" altLang="ko-KR" sz="3200" dirty="0"/>
              <a:t>?</a:t>
            </a:r>
            <a:endParaRPr lang="ko-KR" altLang="en-US" sz="3200" dirty="0"/>
          </a:p>
        </p:txBody>
      </p:sp>
      <p:sp>
        <p:nvSpPr>
          <p:cNvPr id="19" name="모서리가 둥근 직사각형 18"/>
          <p:cNvSpPr/>
          <p:nvPr/>
        </p:nvSpPr>
        <p:spPr>
          <a:xfrm>
            <a:off x="7297051" y="5130568"/>
            <a:ext cx="4572493" cy="95239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7297051" y="5187180"/>
            <a:ext cx="45724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Mistral</a:t>
            </a:r>
            <a:r>
              <a:rPr lang="ko-KR" altLang="en-US" sz="1600" b="1" dirty="0"/>
              <a:t>과 </a:t>
            </a:r>
            <a:r>
              <a:rPr lang="en-US" altLang="ko-KR" sz="1600" b="1" dirty="0" err="1"/>
              <a:t>OLMo</a:t>
            </a:r>
            <a:r>
              <a:rPr lang="ko-KR" altLang="en-US" sz="1600" b="1" dirty="0"/>
              <a:t>에서도 번호는 다르지만</a:t>
            </a:r>
            <a:r>
              <a:rPr lang="en-US" altLang="ko-KR" sz="1600" b="1" dirty="0"/>
              <a:t>, </a:t>
            </a:r>
            <a:r>
              <a:rPr lang="en-US" altLang="ko-KR" sz="1600" b="1" dirty="0" smtClean="0"/>
              <a:t/>
            </a:r>
            <a:br>
              <a:rPr lang="en-US" altLang="ko-KR" sz="1600" b="1" dirty="0" smtClean="0"/>
            </a:br>
            <a:r>
              <a:rPr lang="ko-KR" altLang="en-US" sz="1600" b="1" dirty="0" smtClean="0"/>
              <a:t>억제하면 </a:t>
            </a:r>
            <a:r>
              <a:rPr lang="en-US" altLang="ko-KR" sz="1600" b="1" dirty="0"/>
              <a:t>R/M gap</a:t>
            </a:r>
            <a:r>
              <a:rPr lang="ko-KR" altLang="en-US" sz="1600" b="1" dirty="0"/>
              <a:t>이 줄어드는 </a:t>
            </a:r>
            <a:r>
              <a:rPr lang="en-US" altLang="ko-KR" sz="1600" b="1" dirty="0" smtClean="0"/>
              <a:t/>
            </a:r>
            <a:br>
              <a:rPr lang="en-US" altLang="ko-KR" sz="1600" b="1" dirty="0" smtClean="0"/>
            </a:br>
            <a:r>
              <a:rPr lang="en-US" altLang="ko-KR" sz="1600" b="1" dirty="0" err="1" smtClean="0"/>
              <a:t>Head+Neuron</a:t>
            </a:r>
            <a:r>
              <a:rPr lang="ko-KR" altLang="en-US" sz="1600" b="1" dirty="0"/>
              <a:t>이 다시 나타났다</a:t>
            </a:r>
            <a:r>
              <a:rPr lang="en-US" altLang="ko-KR" sz="1600" b="1" dirty="0"/>
              <a:t>.</a:t>
            </a:r>
            <a:endParaRPr lang="en-US" altLang="ko-KR" sz="1600" b="1" dirty="0" smtClean="0"/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276" y="4178699"/>
            <a:ext cx="3946544" cy="2664978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276" y="1358890"/>
            <a:ext cx="3946544" cy="2719319"/>
          </a:xfrm>
          <a:prstGeom prst="rect">
            <a:avLst/>
          </a:prstGeom>
        </p:spPr>
      </p:pic>
      <p:pic>
        <p:nvPicPr>
          <p:cNvPr id="29" name="그림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8690" y="2959329"/>
            <a:ext cx="7059010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777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194FA-658A-46A5-BE65-371FA89C6DF6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11" name="제목 1"/>
          <p:cNvSpPr>
            <a:spLocks noGrp="1"/>
          </p:cNvSpPr>
          <p:nvPr>
            <p:ph type="title"/>
          </p:nvPr>
        </p:nvSpPr>
        <p:spPr>
          <a:xfrm>
            <a:off x="838200" y="454818"/>
            <a:ext cx="10515600" cy="1325563"/>
          </a:xfrm>
        </p:spPr>
        <p:txBody>
          <a:bodyPr/>
          <a:lstStyle/>
          <a:p>
            <a:r>
              <a:rPr lang="en-US" altLang="ko-KR" dirty="0" smtClean="0"/>
              <a:t>Cross-model R-direction Components</a:t>
            </a:r>
            <a:endParaRPr lang="ko-KR" altLang="en-US" dirty="0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567" y="1513681"/>
            <a:ext cx="9034574" cy="3083719"/>
          </a:xfrm>
          <a:prstGeom prst="rect">
            <a:avLst/>
          </a:prstGeom>
        </p:spPr>
      </p:pic>
      <p:sp>
        <p:nvSpPr>
          <p:cNvPr id="24" name="모서리가 둥근 직사각형 23"/>
          <p:cNvSpPr/>
          <p:nvPr/>
        </p:nvSpPr>
        <p:spPr>
          <a:xfrm>
            <a:off x="3459400" y="5053654"/>
            <a:ext cx="4949344" cy="116628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내용 개체 틀 2"/>
          <p:cNvSpPr txBox="1">
            <a:spLocks/>
          </p:cNvSpPr>
          <p:nvPr/>
        </p:nvSpPr>
        <p:spPr>
          <a:xfrm>
            <a:off x="3455525" y="5084446"/>
            <a:ext cx="4861161" cy="11436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400" b="1" dirty="0" smtClean="0"/>
              <a:t>Gemma‑2‑9B</a:t>
            </a:r>
          </a:p>
          <a:p>
            <a:pPr marL="0" indent="0">
              <a:buNone/>
            </a:pPr>
            <a:r>
              <a:rPr lang="en-US" altLang="ko-KR" sz="1400" dirty="0"/>
              <a:t>R </a:t>
            </a:r>
            <a:r>
              <a:rPr lang="ko-KR" altLang="en-US" sz="1400" dirty="0"/>
              <a:t>방향 </a:t>
            </a:r>
            <a:r>
              <a:rPr lang="ko-KR" altLang="en-US" sz="1400" dirty="0" err="1"/>
              <a:t>선택성</a:t>
            </a:r>
            <a:r>
              <a:rPr lang="ko-KR" altLang="en-US" sz="1400" dirty="0"/>
              <a:t> 후보는 있었으나</a:t>
            </a:r>
            <a:r>
              <a:rPr lang="en-US" altLang="ko-KR" sz="1400" dirty="0"/>
              <a:t>,</a:t>
            </a:r>
            <a:br>
              <a:rPr lang="en-US" altLang="ko-KR" sz="1400" dirty="0"/>
            </a:br>
            <a:r>
              <a:rPr lang="ko-KR" altLang="en-US" sz="1400" b="1" dirty="0"/>
              <a:t>최종 </a:t>
            </a:r>
            <a:r>
              <a:rPr lang="en-US" altLang="ko-KR" sz="1400" b="1" dirty="0"/>
              <a:t>strict </a:t>
            </a:r>
            <a:r>
              <a:rPr lang="ko-KR" altLang="en-US" sz="1400" b="1" dirty="0"/>
              <a:t>기준을 통과한 </a:t>
            </a:r>
            <a:r>
              <a:rPr lang="en-US" altLang="ko-KR" sz="1400" b="1" dirty="0"/>
              <a:t>component</a:t>
            </a:r>
            <a:r>
              <a:rPr lang="ko-KR" altLang="en-US" sz="1400" b="1" dirty="0"/>
              <a:t>는 확인되지 않음</a:t>
            </a:r>
            <a:endParaRPr lang="en-US" altLang="ko-KR" sz="1400" dirty="0" smtClean="0"/>
          </a:p>
        </p:txBody>
      </p:sp>
    </p:spTree>
    <p:extLst>
      <p:ext uri="{BB962C8B-B14F-4D97-AF65-F5344CB8AC3E}">
        <p14:creationId xmlns:p14="http://schemas.microsoft.com/office/powerpoint/2010/main" val="2711460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194FA-658A-46A5-BE65-371FA89C6DF6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11" name="제목 1"/>
          <p:cNvSpPr>
            <a:spLocks noGrp="1"/>
          </p:cNvSpPr>
          <p:nvPr>
            <p:ph type="title"/>
          </p:nvPr>
        </p:nvSpPr>
        <p:spPr>
          <a:xfrm>
            <a:off x="838200" y="454818"/>
            <a:ext cx="10515600" cy="1325563"/>
          </a:xfrm>
        </p:spPr>
        <p:txBody>
          <a:bodyPr/>
          <a:lstStyle/>
          <a:p>
            <a:r>
              <a:rPr lang="en-US" altLang="ko-KR" dirty="0"/>
              <a:t>Cross-model </a:t>
            </a:r>
            <a:r>
              <a:rPr lang="en-US" altLang="ko-KR" dirty="0" smtClean="0"/>
              <a:t>M-direction </a:t>
            </a:r>
            <a:r>
              <a:rPr lang="en-US" altLang="ko-KR" dirty="0"/>
              <a:t>Components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526381"/>
            <a:ext cx="4210638" cy="272453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488" y="1936013"/>
            <a:ext cx="4191585" cy="2314898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1834" y="4406543"/>
            <a:ext cx="4753638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660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194FA-658A-46A5-BE65-371FA89C6DF6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11" name="제목 1"/>
          <p:cNvSpPr>
            <a:spLocks noGrp="1"/>
          </p:cNvSpPr>
          <p:nvPr>
            <p:ph type="title"/>
          </p:nvPr>
        </p:nvSpPr>
        <p:spPr>
          <a:xfrm>
            <a:off x="838200" y="454818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R/M </a:t>
            </a:r>
            <a:r>
              <a:rPr lang="ko-KR" altLang="en-US" sz="2800" dirty="0"/>
              <a:t>관련 </a:t>
            </a:r>
            <a:r>
              <a:rPr lang="en-US" altLang="ko-KR" sz="2800" dirty="0"/>
              <a:t>component</a:t>
            </a:r>
            <a:r>
              <a:rPr lang="ko-KR" altLang="en-US" sz="2800" dirty="0"/>
              <a:t>를 억제하면 </a:t>
            </a:r>
            <a:r>
              <a:rPr lang="en-US" altLang="ko-KR" sz="2800" dirty="0" smtClean="0"/>
              <a:t/>
            </a:r>
            <a:br>
              <a:rPr lang="en-US" altLang="ko-KR" sz="2800" dirty="0" smtClean="0"/>
            </a:br>
            <a:r>
              <a:rPr lang="ko-KR" altLang="en-US" sz="2800" dirty="0" smtClean="0"/>
              <a:t>외부 </a:t>
            </a:r>
            <a:r>
              <a:rPr lang="ko-KR" altLang="en-US" sz="2800" dirty="0"/>
              <a:t>객관식 정답 선택 성능도 감소하는가</a:t>
            </a:r>
            <a:r>
              <a:rPr lang="en-US" altLang="ko-KR" sz="2800" dirty="0"/>
              <a:t>?</a:t>
            </a:r>
            <a:endParaRPr lang="ko-KR" altLang="en-US" sz="2800" dirty="0"/>
          </a:p>
        </p:txBody>
      </p:sp>
      <p:sp>
        <p:nvSpPr>
          <p:cNvPr id="9" name="TextBox 8"/>
          <p:cNvSpPr txBox="1"/>
          <p:nvPr/>
        </p:nvSpPr>
        <p:spPr>
          <a:xfrm>
            <a:off x="3081403" y="1959843"/>
            <a:ext cx="574206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Meta-Llama · </a:t>
            </a:r>
            <a:r>
              <a:rPr lang="ko-KR" altLang="en-US" sz="2000" dirty="0"/>
              <a:t>후보 </a:t>
            </a:r>
            <a:r>
              <a:rPr lang="en-US" altLang="ko-KR" sz="2000" dirty="0"/>
              <a:t>13</a:t>
            </a:r>
            <a:r>
              <a:rPr lang="ko-KR" altLang="en-US" sz="2000" dirty="0"/>
              <a:t>개</a:t>
            </a:r>
            <a:br>
              <a:rPr lang="ko-KR" altLang="en-US" sz="2000" dirty="0"/>
            </a:br>
            <a:r>
              <a:rPr lang="en-US" altLang="ko-KR" sz="2000" dirty="0"/>
              <a:t>50% / 100% </a:t>
            </a:r>
            <a:r>
              <a:rPr lang="en-US" altLang="ko-KR" sz="2000" dirty="0" smtClean="0"/>
              <a:t>Suppression</a:t>
            </a:r>
          </a:p>
          <a:p>
            <a:pPr algn="ctr"/>
            <a:r>
              <a:rPr lang="en-US" altLang="ko-KR" sz="2000" dirty="0"/>
              <a:t/>
            </a:r>
            <a:br>
              <a:rPr lang="en-US" altLang="ko-KR" sz="2000" dirty="0"/>
            </a:br>
            <a:endParaRPr lang="en-US" altLang="ko-KR" sz="2000" dirty="0" smtClean="0"/>
          </a:p>
          <a:p>
            <a:pPr algn="ctr"/>
            <a:r>
              <a:rPr lang="en-US" altLang="ko-KR" sz="2000" dirty="0"/>
              <a:t/>
            </a:r>
            <a:br>
              <a:rPr lang="en-US" altLang="ko-KR" sz="2000" dirty="0"/>
            </a:br>
            <a:r>
              <a:rPr lang="ko-KR" altLang="en-US" sz="2000" dirty="0" err="1"/>
              <a:t>정답률</a:t>
            </a:r>
            <a:r>
              <a:rPr lang="ko-KR" altLang="en-US" sz="2000" dirty="0"/>
              <a:t> </a:t>
            </a:r>
            <a:r>
              <a:rPr lang="en-US" altLang="ko-KR" sz="2000" dirty="0"/>
              <a:t>+ </a:t>
            </a:r>
            <a:r>
              <a:rPr lang="ko-KR" altLang="en-US" sz="2000" dirty="0"/>
              <a:t>정답 확률 확인</a:t>
            </a:r>
          </a:p>
          <a:p>
            <a:pPr algn="ctr"/>
            <a:r>
              <a:rPr lang="en-US" altLang="ko-KR" sz="2000" b="1" dirty="0"/>
              <a:t>Strict Behavioral Signal: 0</a:t>
            </a:r>
            <a:r>
              <a:rPr lang="ko-KR" altLang="en-US" sz="2000" b="1" dirty="0" smtClean="0"/>
              <a:t>개</a:t>
            </a:r>
            <a:endParaRPr lang="en-US" altLang="ko-KR" sz="2000" b="1" dirty="0" smtClean="0"/>
          </a:p>
          <a:p>
            <a:pPr algn="ctr"/>
            <a:endParaRPr lang="en-US" altLang="ko-KR" sz="2000" b="1" dirty="0"/>
          </a:p>
          <a:p>
            <a:pPr algn="ctr"/>
            <a:endParaRPr lang="ko-KR" altLang="en-US" sz="2000" dirty="0"/>
          </a:p>
          <a:p>
            <a:pPr algn="ctr"/>
            <a:r>
              <a:rPr lang="ko-KR" altLang="en-US" sz="2000" dirty="0"/>
              <a:t>정답 확률만 소폭 변화</a:t>
            </a:r>
            <a:r>
              <a:rPr lang="en-US" altLang="ko-KR" sz="2000" dirty="0"/>
              <a:t>: 3</a:t>
            </a:r>
            <a:r>
              <a:rPr lang="ko-KR" altLang="en-US" sz="2000" dirty="0"/>
              <a:t>개 </a:t>
            </a:r>
            <a:r>
              <a:rPr lang="en-US" altLang="ko-KR" sz="2000" dirty="0"/>
              <a:t>Head</a:t>
            </a:r>
            <a:br>
              <a:rPr lang="en-US" altLang="ko-KR" sz="2000" dirty="0"/>
            </a:br>
            <a:r>
              <a:rPr lang="ko-KR" altLang="en-US" sz="2000" b="1" dirty="0"/>
              <a:t>실제 </a:t>
            </a:r>
            <a:r>
              <a:rPr lang="ko-KR" altLang="en-US" sz="2000" b="1" dirty="0" err="1"/>
              <a:t>정답률의</a:t>
            </a:r>
            <a:r>
              <a:rPr lang="ko-KR" altLang="en-US" sz="2000" b="1" dirty="0"/>
              <a:t> 안정적인 감소는 확인되지 않음</a:t>
            </a:r>
            <a:endParaRPr lang="ko-KR" altLang="en-US" sz="2000" dirty="0"/>
          </a:p>
        </p:txBody>
      </p:sp>
      <p:sp>
        <p:nvSpPr>
          <p:cNvPr id="5" name="아래쪽 화살표 4"/>
          <p:cNvSpPr/>
          <p:nvPr/>
        </p:nvSpPr>
        <p:spPr>
          <a:xfrm>
            <a:off x="5692076" y="2792107"/>
            <a:ext cx="520715" cy="571321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5653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194FA-658A-46A5-BE65-371FA89C6DF6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3048000" y="1278037"/>
            <a:ext cx="6096000" cy="507831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b="1" dirty="0" err="1"/>
              <a:t>LiReF</a:t>
            </a:r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>“</a:t>
            </a:r>
            <a:r>
              <a:rPr lang="en-US" altLang="ko-KR" dirty="0"/>
              <a:t>R</a:t>
            </a:r>
            <a:r>
              <a:rPr lang="ko-KR" altLang="en-US" dirty="0"/>
              <a:t>과 </a:t>
            </a:r>
            <a:r>
              <a:rPr lang="en-US" altLang="ko-KR" dirty="0"/>
              <a:t>M</a:t>
            </a:r>
            <a:r>
              <a:rPr lang="ko-KR" altLang="en-US" dirty="0"/>
              <a:t>이 내부에서 다르다</a:t>
            </a:r>
            <a:r>
              <a:rPr lang="en-US" altLang="ko-KR" dirty="0"/>
              <a:t>.”</a:t>
            </a:r>
          </a:p>
          <a:p>
            <a:endParaRPr lang="en-US" altLang="ko-KR" dirty="0"/>
          </a:p>
          <a:p>
            <a:r>
              <a:rPr lang="en-US" altLang="ko-KR" b="1" dirty="0"/>
              <a:t>Meta-Llama </a:t>
            </a:r>
            <a:r>
              <a:rPr lang="ko-KR" altLang="en-US" b="1" dirty="0"/>
              <a:t>내부 분석</a:t>
            </a:r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>“그 차이를 만드는 </a:t>
            </a:r>
            <a:r>
              <a:rPr lang="en-US" altLang="ko-KR" dirty="0"/>
              <a:t>Head/Neuron</a:t>
            </a:r>
            <a:r>
              <a:rPr lang="ko-KR" altLang="en-US" dirty="0"/>
              <a:t>이 실제로 있는가</a:t>
            </a:r>
            <a:r>
              <a:rPr lang="en-US" altLang="ko-KR" dirty="0"/>
              <a:t>?”</a:t>
            </a:r>
            <a:br>
              <a:rPr lang="en-US" altLang="ko-KR" dirty="0"/>
            </a:br>
            <a:r>
              <a:rPr lang="en-US" altLang="ko-KR" dirty="0"/>
              <a:t>→ </a:t>
            </a:r>
            <a:r>
              <a:rPr lang="ko-KR" altLang="en-US" b="1" dirty="0"/>
              <a:t>있음</a:t>
            </a:r>
            <a:endParaRPr lang="ko-KR" altLang="en-US" dirty="0"/>
          </a:p>
          <a:p>
            <a:endParaRPr lang="ko-KR" altLang="en-US" dirty="0"/>
          </a:p>
          <a:p>
            <a:r>
              <a:rPr lang="en-US" altLang="ko-KR" b="1" dirty="0"/>
              <a:t>R/M Gap · R-direction · M-direction</a:t>
            </a:r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>“그 요소들은 </a:t>
            </a:r>
            <a:r>
              <a:rPr lang="en-US" altLang="ko-KR" dirty="0"/>
              <a:t>R</a:t>
            </a:r>
            <a:r>
              <a:rPr lang="ko-KR" altLang="en-US" dirty="0"/>
              <a:t>과 </a:t>
            </a:r>
            <a:r>
              <a:rPr lang="en-US" altLang="ko-KR" dirty="0"/>
              <a:t>M</a:t>
            </a:r>
            <a:r>
              <a:rPr lang="ko-KR" altLang="en-US" dirty="0"/>
              <a:t>에서 어떤 방향으로 기여하는가</a:t>
            </a:r>
            <a:r>
              <a:rPr lang="en-US" altLang="ko-KR" dirty="0"/>
              <a:t>?”</a:t>
            </a:r>
            <a:br>
              <a:rPr lang="en-US" altLang="ko-KR" dirty="0"/>
            </a:br>
            <a:r>
              <a:rPr lang="en-US" altLang="ko-KR" dirty="0"/>
              <a:t>→ </a:t>
            </a:r>
            <a:r>
              <a:rPr lang="ko-KR" altLang="en-US" b="1" dirty="0"/>
              <a:t>방향성 요소 확인</a:t>
            </a:r>
            <a:endParaRPr lang="ko-KR" altLang="en-US" dirty="0"/>
          </a:p>
          <a:p>
            <a:endParaRPr lang="ko-KR" altLang="en-US" dirty="0"/>
          </a:p>
          <a:p>
            <a:r>
              <a:rPr lang="en-US" altLang="ko-KR" b="1" dirty="0"/>
              <a:t>Cross-model</a:t>
            </a:r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>“다른 모델에서도 비슷한 요소가 있는가</a:t>
            </a:r>
            <a:r>
              <a:rPr lang="en-US" altLang="ko-KR" dirty="0"/>
              <a:t>?”</a:t>
            </a:r>
            <a:br>
              <a:rPr lang="en-US" altLang="ko-KR" dirty="0"/>
            </a:br>
            <a:r>
              <a:rPr lang="en-US" altLang="ko-KR" dirty="0"/>
              <a:t>→ </a:t>
            </a:r>
            <a:r>
              <a:rPr lang="ko-KR" altLang="en-US" b="1" dirty="0"/>
              <a:t>일부 모델에서 반복</a:t>
            </a:r>
            <a:endParaRPr lang="ko-KR" altLang="en-US" dirty="0"/>
          </a:p>
          <a:p>
            <a:endParaRPr lang="ko-KR" altLang="en-US" dirty="0"/>
          </a:p>
          <a:p>
            <a:r>
              <a:rPr lang="en-US" altLang="ko-KR" b="1" dirty="0"/>
              <a:t>Behavioral Validation</a:t>
            </a:r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>“그럼 이 요소가 실제 문제를 맞히는 데도 필요한가</a:t>
            </a:r>
            <a:r>
              <a:rPr lang="en-US" altLang="ko-KR" dirty="0"/>
              <a:t>?”</a:t>
            </a:r>
            <a:br>
              <a:rPr lang="en-US" altLang="ko-KR" dirty="0"/>
            </a:br>
            <a:r>
              <a:rPr lang="en-US" altLang="ko-KR" dirty="0"/>
              <a:t>→ </a:t>
            </a:r>
            <a:r>
              <a:rPr lang="ko-KR" altLang="en-US" b="1" dirty="0"/>
              <a:t>현재는 확인되지 않음</a:t>
            </a:r>
            <a:endParaRPr lang="ko-KR" altLang="en-US" dirty="0"/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838200" y="454818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mtClean="0"/>
              <a:t>결론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9749714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종이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0577336-A914-49AF-9C26-7C4D65CFEE5A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82433667-040f-41e8-980d-d8808a5e6e62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77787C212B23C24480D6E23602E3606C" ma:contentTypeVersion="7" ma:contentTypeDescription="새 문서를 만듭니다." ma:contentTypeScope="" ma:versionID="ccae632b597ed28320ecf65bc6876cc3">
  <xsd:schema xmlns:xsd="http://www.w3.org/2001/XMLSchema" xmlns:xs="http://www.w3.org/2001/XMLSchema" xmlns:p="http://schemas.microsoft.com/office/2006/metadata/properties" xmlns:ns3="f2810f65-163b-4b18-8495-5da21cbb972a" targetNamespace="http://schemas.microsoft.com/office/2006/metadata/properties" ma:root="true" ma:fieldsID="2b9dca40a3e5433766c22f2735b53f50" ns3:_="">
    <xsd:import namespace="f2810f65-163b-4b18-8495-5da21cbb972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810f65-163b-4b18-8495-5da21cbb972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9940E59-5151-4F03-9F0B-93A108050AA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A861BA7-DF39-4FF0-94FF-BFA0373ABD2D}">
  <ds:schemaRefs>
    <ds:schemaRef ds:uri="f2810f65-163b-4b18-8495-5da21cbb972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D046D1F-B0EF-406A-A031-C7F7285D7EE6}">
  <ds:schemaRefs>
    <ds:schemaRef ds:uri="f2810f65-163b-4b18-8495-5da21cbb972a"/>
    <ds:schemaRef ds:uri="http://purl.org/dc/terms/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3477</TotalTime>
  <Words>1099</Words>
  <Application>Microsoft Office PowerPoint</Application>
  <PresentationFormat>와이드스크린</PresentationFormat>
  <Paragraphs>133</Paragraphs>
  <Slides>8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Symbol</vt:lpstr>
      <vt:lpstr>디자인 사용자 지정</vt:lpstr>
      <vt:lpstr>LiReF</vt:lpstr>
      <vt:lpstr>Meta-Llama-3-8B 내부 분석</vt:lpstr>
      <vt:lpstr>R-direction / M-direction</vt:lpstr>
      <vt:lpstr>다른 모델에서도 R/M Gap Component가 나타나는가?</vt:lpstr>
      <vt:lpstr>Cross-model R-direction Components</vt:lpstr>
      <vt:lpstr>Cross-model M-direction Components</vt:lpstr>
      <vt:lpstr>R/M 관련 component를 억제하면  외부 객관식 정답 선택 성능도 감소하는가?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윤 혜린</dc:creator>
  <cp:lastModifiedBy>user</cp:lastModifiedBy>
  <cp:revision>499</cp:revision>
  <dcterms:created xsi:type="dcterms:W3CDTF">2021-01-12T06:24:38Z</dcterms:created>
  <dcterms:modified xsi:type="dcterms:W3CDTF">2026-09-01T22:05:32Z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0x01010077787C212B23C24480D6E23602E3606C</vt:lpwstr>
  </property>
</Properties>
</file>